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70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schemas.openxmlformats.org/officeDocument/2006/relationships/slide" Target="slides/slide25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8475f7c0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8475f7c0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8770b6ed0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8770b6ed0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g385fbe28f3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5" name="Google Shape;265;g385fbe28f3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85fbe28f3e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85fbe28f3e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85fbe28f3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85fbe28f3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85fbe28f3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85fbe28f3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85fbe28f3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85fbe28f3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85fbe28f3e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85fbe28f3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85fbe28f3e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85fbe28f3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g385fbe28f3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3" name="Google Shape;313;g385fbe28f3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85fbe28f3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85fbe28f3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85fbe28f3e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85fbe28f3e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85fbe28f3e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85fbe28f3e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85fbe28f3e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85fbe28f3e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85fbe28f3e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85fbe28f3e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85fbe28f3e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85fbe28f3e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85fbe28f3e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85fbe28f3e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85fbe28f3e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385fbe28f3e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85fbe28f3e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385fbe28f3e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85fbe28f3e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85fbe28f3e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85fbe28f3e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85fbe28f3e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85fbe28f3e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385fbe28f3e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85fbe28f3e_0_1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85fbe28f3e_0_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8475f7c0f9_0_15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7" name="Google Shape;407;g38475f7c0f9_0_159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8" name="Google Shape;408;g38475f7c0f9_0_159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>
  <p:cSld name="OBJECT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54" name="Google Shape;54;p13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100"/>
              <a:buNone/>
              <a:defRPr>
                <a:solidFill>
                  <a:srgbClr val="8DC641"/>
                </a:solidFill>
              </a:defRPr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>
  <p:cSld name="SECTION_HEADER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57" name="Google Shape;57;p14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1">
  <p:cSld name="OBJECT_2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63" name="Google Shape;63;p15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100"/>
              <a:buNone/>
              <a:defRPr>
                <a:solidFill>
                  <a:srgbClr val="8DC641"/>
                </a:solidFill>
              </a:defRPr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pequeno e conteúdo 2">
  <p:cSld name="OBJECT_2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6"/>
          <p:cNvSpPr txBox="1"/>
          <p:nvPr>
            <p:ph type="title"/>
          </p:nvPr>
        </p:nvSpPr>
        <p:spPr>
          <a:xfrm>
            <a:off x="628650" y="216694"/>
            <a:ext cx="78867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" type="body"/>
          </p:nvPr>
        </p:nvSpPr>
        <p:spPr>
          <a:xfrm>
            <a:off x="628650" y="938222"/>
            <a:ext cx="7886700" cy="36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Agradecimentos">
  <p:cSld name="CUSTOM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/>
        </p:nvSpPr>
        <p:spPr>
          <a:xfrm>
            <a:off x="1348256" y="1026917"/>
            <a:ext cx="6447600" cy="13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Trebuchet MS"/>
              <a:buNone/>
            </a:pPr>
            <a:r>
              <a:rPr b="1" i="0" lang="pt-BR" sz="3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MUITO</a:t>
            </a:r>
            <a:br>
              <a:rPr b="0" i="0" lang="pt-BR" sz="3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</a:br>
            <a:r>
              <a:rPr b="1" i="0" lang="pt-BR" sz="7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OBRIGADO</a:t>
            </a:r>
            <a:endParaRPr b="0" i="0" sz="54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0" name="Google Shape;70;p17"/>
          <p:cNvSpPr txBox="1"/>
          <p:nvPr>
            <p:ph idx="1" type="subTitle"/>
          </p:nvPr>
        </p:nvSpPr>
        <p:spPr>
          <a:xfrm>
            <a:off x="628650" y="234451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71" name="Google Shape;71;p1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72" name="Google Shape;72;p17"/>
          <p:cNvSpPr txBox="1"/>
          <p:nvPr>
            <p:ph idx="2" type="subTitle"/>
          </p:nvPr>
        </p:nvSpPr>
        <p:spPr>
          <a:xfrm>
            <a:off x="1827281" y="3645469"/>
            <a:ext cx="5489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  <p:sp>
        <p:nvSpPr>
          <p:cNvPr id="73" name="Google Shape;73;p17"/>
          <p:cNvSpPr txBox="1"/>
          <p:nvPr>
            <p:ph idx="3" type="subTitle"/>
          </p:nvPr>
        </p:nvSpPr>
        <p:spPr>
          <a:xfrm>
            <a:off x="1827281" y="3886669"/>
            <a:ext cx="5489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17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17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17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17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17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17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1">
  <p:cSld name="SECTION_HEADER_2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8" name="Google Shape;78;p18"/>
          <p:cNvSpPr txBox="1"/>
          <p:nvPr/>
        </p:nvSpPr>
        <p:spPr>
          <a:xfrm>
            <a:off x="2995662" y="4760051"/>
            <a:ext cx="315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8DC641"/>
                </a:solidFill>
                <a:latin typeface="Trebuchet MS"/>
                <a:ea typeface="Trebuchet MS"/>
                <a:cs typeface="Trebuchet MS"/>
                <a:sym typeface="Trebuchet MS"/>
              </a:rPr>
              <a:t>Instituto Federal Sul-rio-grandense | câmpus Charqueadas</a:t>
            </a:r>
            <a:endParaRPr b="0" i="0" sz="900" u="none" cap="none" strike="noStrike">
              <a:solidFill>
                <a:srgbClr val="8DC64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82" name="Google Shape;82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29599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29599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29599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29599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29599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29599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29599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29599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929599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83" name="Google Shape;83;p1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84" name="Google Shape;84;p19"/>
          <p:cNvSpPr txBox="1"/>
          <p:nvPr>
            <p:ph idx="1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100"/>
              <a:buNone/>
              <a:defRPr>
                <a:solidFill>
                  <a:srgbClr val="8DC641"/>
                </a:solidFill>
              </a:defRPr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9pPr>
          </a:lstStyle>
          <a:p/>
        </p:txBody>
      </p:sp>
      <p:sp>
        <p:nvSpPr>
          <p:cNvPr id="85" name="Google Shape;85;p19"/>
          <p:cNvSpPr txBox="1"/>
          <p:nvPr>
            <p:ph idx="2" type="body"/>
          </p:nvPr>
        </p:nvSpPr>
        <p:spPr>
          <a:xfrm>
            <a:off x="628650" y="1646419"/>
            <a:ext cx="38862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DC641"/>
              </a:buClr>
              <a:buSzPts val="1500"/>
              <a:buFont typeface="Arial"/>
              <a:buChar char="➤"/>
              <a:defRPr b="0" i="0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1115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C0000"/>
              </a:buClr>
              <a:buSzPts val="1300"/>
              <a:buFont typeface="Arial"/>
              <a:buChar char="➤"/>
              <a:defRPr b="0" i="0" sz="17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84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Char char="➤"/>
              <a:defRPr b="0" i="0" sz="15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921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➤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➤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➤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57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➤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86" name="Google Shape;86;p19"/>
          <p:cNvSpPr txBox="1"/>
          <p:nvPr>
            <p:ph idx="3" type="body"/>
          </p:nvPr>
        </p:nvSpPr>
        <p:spPr>
          <a:xfrm>
            <a:off x="4694419" y="1646363"/>
            <a:ext cx="3886200" cy="30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marR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8DC641"/>
              </a:buClr>
              <a:buSzPts val="1500"/>
              <a:buFont typeface="Arial"/>
              <a:buChar char="➤"/>
              <a:defRPr b="0" i="0" sz="2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311150" lvl="1" marL="914400" marR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CC0000"/>
              </a:buClr>
              <a:buSzPts val="1300"/>
              <a:buFont typeface="Arial"/>
              <a:buChar char="➤"/>
              <a:defRPr b="0" i="0" sz="17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-2984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5"/>
              </a:buClr>
              <a:buSzPts val="1100"/>
              <a:buFont typeface="Arial"/>
              <a:buChar char="➤"/>
              <a:defRPr b="0" i="0" sz="15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-2921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Char char="➤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-28575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900"/>
              <a:buFont typeface="Arial"/>
              <a:buChar char="➤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28575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➤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-28575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➤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2">
  <p:cSld name="SECTION_HEADER_3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89" name="Google Shape;89;p20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0" name="Google Shape;90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91" name="Google Shape;91;p20"/>
          <p:cNvSpPr txBox="1"/>
          <p:nvPr/>
        </p:nvSpPr>
        <p:spPr>
          <a:xfrm>
            <a:off x="2995662" y="4760051"/>
            <a:ext cx="31527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pt-BR" sz="900" u="none" cap="none" strike="noStrike">
                <a:solidFill>
                  <a:srgbClr val="8DC641"/>
                </a:solidFill>
                <a:latin typeface="Trebuchet MS"/>
                <a:ea typeface="Trebuchet MS"/>
                <a:cs typeface="Trebuchet MS"/>
                <a:sym typeface="Trebuchet MS"/>
              </a:rPr>
              <a:t>Instituto Federal Sul-rio-grandense | câmpus Charqueadas</a:t>
            </a:r>
            <a:endParaRPr b="0" i="0" sz="900" u="none" cap="none" strike="noStrike">
              <a:solidFill>
                <a:srgbClr val="8DC64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92" name="Google Shape;92;p2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2">
  <p:cSld name="OBJECT_3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1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5" name="Google Shape;95;p21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6" name="Google Shape;96;p2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97" name="Google Shape;97;p21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100"/>
              <a:buNone/>
              <a:defRPr>
                <a:solidFill>
                  <a:srgbClr val="8DC641"/>
                </a:solidFill>
              </a:defRPr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3">
  <p:cSld name="SECTION_HEADER_4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2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00" name="Google Shape;100;p22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2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3">
  <p:cSld name="OBJECT_4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3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3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5" name="Google Shape;105;p2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06" name="Google Shape;106;p23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4">
  <p:cSld name="SECTION_HEADER_5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4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None/>
              <a:defRPr sz="41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100"/>
              <a:buFont typeface="Trebuchet MS"/>
              <a:buNone/>
              <a:defRPr sz="4100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09" name="Google Shape;109;p24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2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4">
  <p:cSld name="OBJECT_5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5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5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4" name="Google Shape;114;p2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15" name="Google Shape;115;p25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5">
  <p:cSld name="SECTION_HEADER_6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6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18" name="Google Shape;118;p26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>
                <a:solidFill>
                  <a:schemeClr val="dk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9" name="Google Shape;119;p2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5">
  <p:cSld name="OBJECT_6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7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7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24" name="Google Shape;124;p27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pequeno e conteúdo 2 1">
  <p:cSld name="OBJECT_2_2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8"/>
          <p:cNvSpPr txBox="1"/>
          <p:nvPr>
            <p:ph type="title"/>
          </p:nvPr>
        </p:nvSpPr>
        <p:spPr>
          <a:xfrm>
            <a:off x="628650" y="216694"/>
            <a:ext cx="78867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8"/>
          <p:cNvSpPr txBox="1"/>
          <p:nvPr>
            <p:ph idx="1" type="body"/>
          </p:nvPr>
        </p:nvSpPr>
        <p:spPr>
          <a:xfrm>
            <a:off x="628650" y="938222"/>
            <a:ext cx="7886700" cy="36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8" name="Google Shape;128;p2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6">
  <p:cSld name="OBJECT_7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2" name="Google Shape;132;p29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3" name="Google Shape;133;p29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7">
  <p:cSld name="OBJECT_8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0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30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7" name="Google Shape;137;p3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38" name="Google Shape;138;p30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6">
  <p:cSld name="SECTION_HEADER_7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1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2" name="Google Shape;142;p3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8">
  <p:cSld name="OBJECT_9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2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5" name="Google Shape;145;p32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6" name="Google Shape;146;p3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47" name="Google Shape;147;p32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100"/>
              <a:buNone/>
              <a:defRPr>
                <a:solidFill>
                  <a:srgbClr val="8DC641"/>
                </a:solidFill>
              </a:defRPr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pequeno e conteúdo 2 2">
  <p:cSld name="OBJECT_2_3"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3"/>
          <p:cNvSpPr txBox="1"/>
          <p:nvPr>
            <p:ph type="title"/>
          </p:nvPr>
        </p:nvSpPr>
        <p:spPr>
          <a:xfrm>
            <a:off x="628650" y="216694"/>
            <a:ext cx="78867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50" name="Google Shape;150;p33"/>
          <p:cNvSpPr txBox="1"/>
          <p:nvPr>
            <p:ph idx="1" type="body"/>
          </p:nvPr>
        </p:nvSpPr>
        <p:spPr>
          <a:xfrm>
            <a:off x="628650" y="938222"/>
            <a:ext cx="7886700" cy="36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1" name="Google Shape;151;p3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9">
  <p:cSld name="OBJECT_10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4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4" name="Google Shape;154;p34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5" name="Google Shape;155;p3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56" name="Google Shape;156;p34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100"/>
              <a:buNone/>
              <a:defRPr>
                <a:solidFill>
                  <a:srgbClr val="8DC641"/>
                </a:solidFill>
              </a:defRPr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7">
  <p:cSld name="SECTION_HEADER_8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5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59" name="Google Shape;159;p35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60" name="Google Shape;160;p3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10">
  <p:cSld name="OBJECT_1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6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3" name="Google Shape;163;p36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4" name="Google Shape;164;p3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65" name="Google Shape;165;p36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pequeno e conteúdo 2 3">
  <p:cSld name="OBJECT_2_4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7"/>
          <p:cNvSpPr txBox="1"/>
          <p:nvPr>
            <p:ph type="title"/>
          </p:nvPr>
        </p:nvSpPr>
        <p:spPr>
          <a:xfrm>
            <a:off x="628650" y="216694"/>
            <a:ext cx="78867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8" name="Google Shape;168;p37"/>
          <p:cNvSpPr txBox="1"/>
          <p:nvPr>
            <p:ph idx="1" type="body"/>
          </p:nvPr>
        </p:nvSpPr>
        <p:spPr>
          <a:xfrm>
            <a:off x="628650" y="938222"/>
            <a:ext cx="7886700" cy="36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9" name="Google Shape;169;p3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11">
  <p:cSld name="OBJECT_12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2" name="Google Shape;172;p38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3" name="Google Shape;173;p3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74" name="Google Shape;174;p38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8">
  <p:cSld name="SECTION_HEADER_9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9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77" name="Google Shape;177;p39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8" name="Google Shape;178;p39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12">
  <p:cSld name="OBJECT_13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0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1" name="Google Shape;181;p40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82" name="Google Shape;182;p4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83" name="Google Shape;183;p40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9">
  <p:cSld name="SECTION_HEADER_10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41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86" name="Google Shape;186;p41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7" name="Google Shape;187;p4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13">
  <p:cSld name="OBJECT_14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42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0" name="Google Shape;190;p42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91" name="Google Shape;191;p4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192" name="Google Shape;192;p42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10">
  <p:cSld name="SECTION_HEADER_11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43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195" name="Google Shape;195;p43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96" name="Google Shape;196;p4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14">
  <p:cSld name="OBJECT_15"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44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199" name="Google Shape;199;p44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0" name="Google Shape;200;p44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01" name="Google Shape;201;p44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100"/>
              <a:buNone/>
              <a:defRPr>
                <a:solidFill>
                  <a:srgbClr val="8DC641"/>
                </a:solidFill>
              </a:defRPr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DC641"/>
              </a:buClr>
              <a:buSzPts val="1500"/>
              <a:buNone/>
              <a:defRPr sz="1500">
                <a:solidFill>
                  <a:srgbClr val="8DC64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11">
  <p:cSld name="SECTION_HEADER_12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5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04" name="Google Shape;204;p45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05" name="Google Shape;205;p45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15">
  <p:cSld name="OBJECT_16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6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8" name="Google Shape;208;p46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9" name="Google Shape;209;p46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10" name="Google Shape;210;p46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pequeno e conteúdo 2 4">
  <p:cSld name="OBJECT_2_5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7"/>
          <p:cNvSpPr txBox="1"/>
          <p:nvPr>
            <p:ph type="title"/>
          </p:nvPr>
        </p:nvSpPr>
        <p:spPr>
          <a:xfrm>
            <a:off x="628650" y="216694"/>
            <a:ext cx="7886700" cy="6024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3" name="Google Shape;213;p47"/>
          <p:cNvSpPr txBox="1"/>
          <p:nvPr>
            <p:ph idx="1" type="body"/>
          </p:nvPr>
        </p:nvSpPr>
        <p:spPr>
          <a:xfrm>
            <a:off x="628650" y="938222"/>
            <a:ext cx="7886700" cy="36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4" name="Google Shape;214;p47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12">
  <p:cSld name="SECTION_HEADER_13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8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17" name="Google Shape;217;p48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18" name="Google Shape;218;p4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16">
  <p:cSld name="OBJECT_17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9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1" name="Google Shape;221;p49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22" name="Google Shape;222;p49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l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23" name="Google Shape;223;p49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13">
  <p:cSld name="SECTION_HEADER_14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0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26" name="Google Shape;226;p50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27" name="Google Shape;227;p50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17">
  <p:cSld name="OBJECT_18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51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0" name="Google Shape;230;p51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31" name="Google Shape;231;p51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32" name="Google Shape;232;p51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 14">
  <p:cSld name="SECTION_HEADER_15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2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100"/>
              <a:buNone/>
              <a:defRPr sz="4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Trebuchet MS"/>
              <a:buNone/>
              <a:defRPr sz="4100"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/>
        </p:txBody>
      </p:sp>
      <p:sp>
        <p:nvSpPr>
          <p:cNvPr id="235" name="Google Shape;235;p52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236" name="Google Shape;236;p52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 18">
  <p:cSld name="OBJECT_19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53"/>
          <p:cNvSpPr txBox="1"/>
          <p:nvPr>
            <p:ph type="title"/>
          </p:nvPr>
        </p:nvSpPr>
        <p:spPr>
          <a:xfrm>
            <a:off x="628650" y="2166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9" name="Google Shape;239;p53"/>
          <p:cNvSpPr txBox="1"/>
          <p:nvPr>
            <p:ph idx="1" type="body"/>
          </p:nvPr>
        </p:nvSpPr>
        <p:spPr>
          <a:xfrm>
            <a:off x="628650" y="1653038"/>
            <a:ext cx="7886700" cy="29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238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500"/>
              <a:buChar char="➤"/>
              <a:defRPr sz="1800"/>
            </a:lvl1pPr>
            <a:lvl2pPr indent="-31115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300"/>
              <a:buChar char="➤"/>
              <a:defRPr/>
            </a:lvl2pPr>
            <a:lvl3pPr indent="-2984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Char char="➤"/>
              <a:defRPr/>
            </a:lvl3pPr>
            <a:lvl4pPr indent="-2921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000"/>
              <a:buChar char="➤"/>
              <a:defRPr/>
            </a:lvl4pPr>
            <a:lvl5pPr indent="-2857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5pPr>
            <a:lvl6pPr indent="-2857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6pPr>
            <a:lvl7pPr indent="-2857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Char char="➤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0" name="Google Shape;240;p53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1" i="0" sz="9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41" name="Google Shape;241;p53"/>
          <p:cNvSpPr txBox="1"/>
          <p:nvPr>
            <p:ph idx="2" type="subTitle"/>
          </p:nvPr>
        </p:nvSpPr>
        <p:spPr>
          <a:xfrm>
            <a:off x="628650" y="121096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1pPr>
            <a:lvl2pPr lvl="1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4pPr>
            <a:lvl5pPr lvl="4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5pPr>
            <a:lvl6pPr lvl="5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6pPr>
            <a:lvl7pPr lvl="6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7pPr>
            <a:lvl8pPr lvl="7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8pPr>
            <a:lvl9pPr lvl="8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theme" Target="../theme/theme1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Desenvolvimento Web</a:t>
            </a:r>
            <a:endParaRPr/>
          </a:p>
        </p:txBody>
      </p:sp>
      <p:sp>
        <p:nvSpPr>
          <p:cNvPr id="247" name="Google Shape;247;p5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Aula 8</a:t>
            </a:r>
            <a:endParaRPr/>
          </a:p>
        </p:txBody>
      </p:sp>
      <p:sp>
        <p:nvSpPr>
          <p:cNvPr id="248" name="Google Shape;248;p54"/>
          <p:cNvSpPr txBox="1"/>
          <p:nvPr>
            <p:ph idx="1" type="subTitle"/>
          </p:nvPr>
        </p:nvSpPr>
        <p:spPr>
          <a:xfrm>
            <a:off x="304936" y="4310097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</a:rPr>
              <a:t>Prof. Calebe Conceiç</a:t>
            </a:r>
            <a:r>
              <a:rPr lang="pt-BR" sz="2000">
                <a:solidFill>
                  <a:schemeClr val="dk1"/>
                </a:solidFill>
              </a:rPr>
              <a:t>ão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Fizemos p</a:t>
            </a:r>
            <a:r>
              <a:rPr lang="pt-BR"/>
              <a:t>áginas web estáticas: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Usando HTML e CSS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O conteúdo é imutável.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Esse tipo de página são a principal característica da web 1.0 </a:t>
            </a:r>
            <a:endParaRPr/>
          </a:p>
        </p:txBody>
      </p:sp>
      <p:sp>
        <p:nvSpPr>
          <p:cNvPr id="254" name="Google Shape;254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pt-BR"/>
              <a:t>O que vimos nas últimas aulas?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5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que vamos ver hoje:</a:t>
            </a:r>
            <a:endParaRPr/>
          </a:p>
        </p:txBody>
      </p:sp>
      <p:sp>
        <p:nvSpPr>
          <p:cNvPr id="261" name="Google Shape;261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Começaremos a adicionar dinamicidade </a:t>
            </a:r>
            <a:r>
              <a:rPr lang="pt-BR"/>
              <a:t>às páginas.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Com scripts JavaScript do lado cliente.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Com scripts b</a:t>
            </a:r>
            <a:r>
              <a:rPr lang="pt-BR"/>
              <a:t>ásicos </a:t>
            </a:r>
            <a:r>
              <a:rPr lang="pt-BR"/>
              <a:t>JavaScript do lado servidor.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62" name="Google Shape;262;p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>
                <a:solidFill>
                  <a:schemeClr val="dk2"/>
                </a:solidFill>
              </a:rPr>
              <a:t>‹#›</a:t>
            </a:fld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Hoje </a:t>
            </a:r>
            <a:r>
              <a:rPr lang="pt-BR"/>
              <a:t>é hands-on</a:t>
            </a:r>
            <a:endParaRPr/>
          </a:p>
        </p:txBody>
      </p:sp>
      <p:sp>
        <p:nvSpPr>
          <p:cNvPr id="268" name="Google Shape;268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 aula est</a:t>
            </a:r>
            <a:r>
              <a:rPr lang="pt-BR"/>
              <a:t>á organizada</a:t>
            </a:r>
            <a:r>
              <a:rPr lang="pt-BR"/>
              <a:t> em 5 partes: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0 → Mostra</a:t>
            </a:r>
            <a:r>
              <a:rPr lang="pt-BR"/>
              <a:t> como o JS pode ser incorporado ao frontend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1 → Mostra como o JS pode ser usado para manipular o DOM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2 → Mostra como o JS pode ser usado para buscar informações do servidor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3 → Mostra como enviar dados de usuário do front para o servidor (GET)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4 → Mostra como enviar dados de usuário do front para o servidor (POST)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5 → Demonstraremos detalhes do lado servidor com node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Manipulação de requisições, novas páginas, validações e redirecionamentos. </a:t>
            </a:r>
            <a:endParaRPr/>
          </a:p>
        </p:txBody>
      </p:sp>
      <p:sp>
        <p:nvSpPr>
          <p:cNvPr id="269" name="Google Shape;269;p5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Mensagem aos instrutores</a:t>
            </a:r>
            <a:endParaRPr/>
          </a:p>
        </p:txBody>
      </p:sp>
      <p:sp>
        <p:nvSpPr>
          <p:cNvPr id="275" name="Google Shape;275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Compartilhem a tela, congelando a tela dos alunos e apresentem o c</a:t>
            </a:r>
            <a:r>
              <a:rPr lang="pt-BR"/>
              <a:t>ódigo da parte 0. Os comentários são bem suficientes.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Após a explicação, forneçam o zip da parte 0 e então exibam a sequência de exercícios</a:t>
            </a:r>
            <a:r>
              <a:rPr lang="pt-BR"/>
              <a:t> usando o compartilhamento em janela.</a:t>
            </a:r>
            <a:r>
              <a:rPr lang="pt-BR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Para cada exercício, controlem o tempo. Uma boa estimativa é aguardar o primeiro aluno terminar e então dêem mais 50% do tempo.</a:t>
            </a:r>
            <a:endParaRPr/>
          </a:p>
        </p:txBody>
      </p:sp>
      <p:sp>
        <p:nvSpPr>
          <p:cNvPr id="276" name="Google Shape;276;p5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Parte 0</a:t>
            </a:r>
            <a:endParaRPr b="1"/>
          </a:p>
        </p:txBody>
      </p:sp>
      <p:sp>
        <p:nvSpPr>
          <p:cNvPr id="282" name="Google Shape;282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Parte 0</a:t>
            </a:r>
            <a:endParaRPr/>
          </a:p>
        </p:txBody>
      </p:sp>
      <p:sp>
        <p:nvSpPr>
          <p:cNvPr id="288" name="Google Shape;288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289" name="Google Shape;289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1) Explorando alternativas de implementação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Altere o script JS para usar template literals (Olá, ${nome}) ao invés de concatenação (+).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2) Interagir com o Console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Adicione três chamadas console.log() que exibam: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O nome do navegador (navigator.appName),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A data e hora atuais (new Date()),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E uma frase de sua escolha.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pt-BR"/>
              <a:t>Observe tudo na aba Console do navegador (F12).</a:t>
            </a:r>
            <a:endParaRPr i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Parte 0</a:t>
            </a:r>
            <a:endParaRPr/>
          </a:p>
        </p:txBody>
      </p:sp>
      <p:sp>
        <p:nvSpPr>
          <p:cNvPr id="295" name="Google Shape;295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pt-BR"/>
              <a:t>3) Executar Função ao Carregar a Página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Crie uma função chamada mostrarBoasVindas() que mostre uma mensagem no console.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Configure-a para ser chamada automaticamente assim que a página terminar de carregar.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i="1" lang="pt-BR"/>
              <a:t>Dica: pesquise sobre o evento window.onload.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b="1" lang="pt-BR"/>
              <a:t>4) Criar um Botão de Interação Simples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/>
              <a:t>Adicione um botão no HTML com o texto “Dizer Olá”.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Associe uma função JavaScript que exibe um alert() quando o botão for clicado.</a:t>
            </a:r>
            <a:endParaRPr/>
          </a:p>
        </p:txBody>
      </p:sp>
      <p:sp>
        <p:nvSpPr>
          <p:cNvPr id="296" name="Google Shape;296;p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Parte 0</a:t>
            </a:r>
            <a:endParaRPr/>
          </a:p>
        </p:txBody>
      </p:sp>
      <p:sp>
        <p:nvSpPr>
          <p:cNvPr id="302" name="Google Shape;302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5) Desafio Extra – Combinar Interações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Faça com que o botão “Dizer Olá” exiba uma mensagem diferente dependendo do horário atual (manhã, tarde ou noite).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pt-BR"/>
              <a:t>Dica: use new Date().getHours() e estruturas if...else.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303" name="Google Shape;303;p6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Mensagem aos instrutores</a:t>
            </a:r>
            <a:endParaRPr/>
          </a:p>
        </p:txBody>
      </p:sp>
      <p:sp>
        <p:nvSpPr>
          <p:cNvPr id="309" name="Google Shape;309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Compartilhem a tela, congelando a tela dos alunos e apresentem o código da parte 1. Os comentários são bem suficientes.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Após a explicação, forneçam o zip da parte 1 e então exibam a sequência de exercícios usando o compartilhamento em janela.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Para cada exercício, controlem o tempo. Uma boa estimativa é aguardar o primeiro aluno terminar e então dêem mais 50% do tempo.</a:t>
            </a:r>
            <a:endParaRPr/>
          </a:p>
        </p:txBody>
      </p:sp>
      <p:sp>
        <p:nvSpPr>
          <p:cNvPr id="310" name="Google Shape;310;p6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Parte 1</a:t>
            </a:r>
            <a:endParaRPr b="1"/>
          </a:p>
        </p:txBody>
      </p:sp>
      <p:sp>
        <p:nvSpPr>
          <p:cNvPr id="316" name="Google Shape;316;p6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Parte 1</a:t>
            </a:r>
            <a:endParaRPr/>
          </a:p>
        </p:txBody>
      </p:sp>
      <p:sp>
        <p:nvSpPr>
          <p:cNvPr id="322" name="Google Shape;322;p6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23" name="Google Shape;323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1) Adicione um Botão3. Crie uma função que mostre novamente o título e associe a este botão.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Escolha um das formas de implementação de função estudadas.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2) Adicione um Botão 4. Crie uma função que alterne (adicione/remova) uma classe CSS no título &lt;h1&gt;.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Essa classe, chamada destaque, deve ser criada por você no CSS para adicionar uma cor de fundo ao título.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Associe a função ao clique deste novo botão.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pt-BR"/>
              <a:t>Dica: Pesquise sobre o método classList.toggle().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Exemplo de classe CSS para usar: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pt-BR"/>
              <a:t>.destaque {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pt-BR"/>
              <a:t>  background-color: yellow;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pt-BR"/>
              <a:t>}</a:t>
            </a:r>
            <a:endParaRPr i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Parte 1</a:t>
            </a:r>
            <a:endParaRPr/>
          </a:p>
        </p:txBody>
      </p:sp>
      <p:sp>
        <p:nvSpPr>
          <p:cNvPr id="329" name="Google Shape;329;p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30" name="Google Shape;330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3) Adicione uma div vazia com o id="container" e um Botão 5.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Crie uma função que, a cada clique, crie um novo elemento de parágrafo (&lt;p&gt;) com o texto "Novo parágrafo!" e o adicione dentro da div container. Acompanhe o resultado da execução sobre o DOM usando F12 na aba Elements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4) Adicione um campo de texto (&lt;input type="text"&gt;) com id="campoTexto", um Botão 6 e um parágrafo vazio com id="exibirTexto". Crie uma função que leia o valor digitado no campo de texto e o exiba dentro do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parágrafo #exibirTexto. Associe a função ao clique do Botão 6.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pt-BR"/>
              <a:t>Dica: Para ler o que foi digitado em um input, use a propriedade .value. Pesquise como usar.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5) Adicione um parágrafo que diga "Cliques: &lt;span id="contador"&gt;0&lt;/span&gt;" e um Botão 7. Crie uma função que  incremente o número dentro do span em 1 a cada vez que o Botão 7 for clicado.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pt-BR"/>
              <a:t>Dica: Você precisará ler o conteúdo do span, convertê-lo para um número com parseInt(), somar 1 e depois  atualizar o conteúdo do span com o novo valor.</a:t>
            </a:r>
            <a:endParaRPr i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Mensagem aos instrutores</a:t>
            </a:r>
            <a:endParaRPr/>
          </a:p>
        </p:txBody>
      </p:sp>
      <p:sp>
        <p:nvSpPr>
          <p:cNvPr id="336" name="Google Shape;336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Compartilhem a tela, congelando a tela dos alunos e apresentem o código da parte 2. Os comentários são bem suficientes.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Após a explicação, forneçam o zip da parte 2 e então exibam a sequência de exercícios usando o compartilhamento em janela.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Para cada exercício, controlem o tempo. Uma boa estimativa é aguardar o primeiro aluno terminar e então dêem mais 50% do tempo.</a:t>
            </a:r>
            <a:endParaRPr/>
          </a:p>
        </p:txBody>
      </p:sp>
      <p:sp>
        <p:nvSpPr>
          <p:cNvPr id="337" name="Google Shape;337;p6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Parte 2</a:t>
            </a:r>
            <a:endParaRPr b="1"/>
          </a:p>
        </p:txBody>
      </p:sp>
      <p:sp>
        <p:nvSpPr>
          <p:cNvPr id="343" name="Google Shape;343;p6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Parte 2</a:t>
            </a:r>
            <a:endParaRPr/>
          </a:p>
        </p:txBody>
      </p:sp>
      <p:sp>
        <p:nvSpPr>
          <p:cNvPr id="349" name="Google Shape;349;p6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50" name="Google Shape;350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1) Exibir Duas Cartas por Vez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Altere o código para comprar e exibir duas cartas ao mesmo tempo.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pt-BR"/>
              <a:t>Dica: A API permite passar count=2 na URL da requisição.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2) Mostrar o Nome da Carta Abaixo da Imagem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Para cada carta exibida, mostre também o valor e o naipe (value e suit) abaixo da imagem.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pt-BR"/>
              <a:t>Dica: use createElement('p') e appendChild().</a:t>
            </a:r>
            <a:endParaRPr i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3) Contar as Cartas Exibidas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Mostre na tela quantas cartas já foram exibidas desde o início da sessão (novo deck criado).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pt-BR"/>
              <a:t>Dica: Crie uma variável global contador e atualize-a a cada clique.</a:t>
            </a:r>
            <a:endParaRPr i="1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Mensagem aos instrutores</a:t>
            </a:r>
            <a:endParaRPr/>
          </a:p>
        </p:txBody>
      </p:sp>
      <p:sp>
        <p:nvSpPr>
          <p:cNvPr id="356" name="Google Shape;356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Compartilhem a tela, congelando a tela dos alunos e apresentem o código da parte 3. Os comentários são bem suficientes.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Após a explicação, forneçam o zip da parte 3 e então exibam a sequência de exercícios usando o compartilhamento em janela.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Para cada exercício, controlem o tempo. Uma boa estimativa é aguardar o primeiro aluno terminar e então dêem mais 50% do tempo.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Lembrem que, antes de executar no navegador, devem rodar o comando: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pt-BR"/>
              <a:t>node servidor.js</a:t>
            </a:r>
            <a:endParaRPr b="1"/>
          </a:p>
        </p:txBody>
      </p:sp>
      <p:sp>
        <p:nvSpPr>
          <p:cNvPr id="357" name="Google Shape;357;p7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7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Parte 3</a:t>
            </a:r>
            <a:endParaRPr b="1"/>
          </a:p>
        </p:txBody>
      </p:sp>
      <p:sp>
        <p:nvSpPr>
          <p:cNvPr id="363" name="Google Shape;363;p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Parte 3</a:t>
            </a:r>
            <a:endParaRPr/>
          </a:p>
        </p:txBody>
      </p:sp>
      <p:sp>
        <p:nvSpPr>
          <p:cNvPr id="369" name="Google Shape;369;p7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0" name="Google Shape;370;p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1) Registrar as Requisições no Console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Faça o servidor imprimir no terminal a data, o método (GET) e a rota acessada por cada requisição.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/>
              <a:t>2) Exibir Mensagem Personalizada na Página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Crie uma nova rota "saudacoes" e faça o servidor responder com uma mensagem que inclua o valor  de um parâmetro passado na URL, por exemplo: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http://localhost:3000/saudacoes?nome=Calebe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→ Exibe “Olá, Calebe!”.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Manipule a url para alterar o nome da pessoa.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pt-BR"/>
              <a:t>Dica: tente usar if (req.url.startsWith('/saudacoes')) { ... }.</a:t>
            </a:r>
            <a:endParaRPr i="1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Parte 3</a:t>
            </a:r>
            <a:endParaRPr/>
          </a:p>
        </p:txBody>
      </p:sp>
      <p:sp>
        <p:nvSpPr>
          <p:cNvPr id="376" name="Google Shape;376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77" name="Google Shape;377;p7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3) Desafio Extra – HTML Dinâmico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No exercício anterior, gere uma resposta HTML personalizada conforme os parâmetros recebidos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(ex.: cor e mensagem).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pt-BR"/>
              <a:t>Exemplo: /saudacoes?nome=Calebe&amp;cor=blue → retorna um &lt;h1 style="color:blue"&gt;Olá&lt;/h1&gt;.</a:t>
            </a:r>
            <a:endParaRPr i="1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7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Mensagem aos instrutores</a:t>
            </a:r>
            <a:endParaRPr/>
          </a:p>
        </p:txBody>
      </p:sp>
      <p:sp>
        <p:nvSpPr>
          <p:cNvPr id="383" name="Google Shape;383;p7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Compartilhem a tela, congelando a tela dos alunos e apresentem o código da parte 4. Os comentários são bem suficientes.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Após a explicação, forneçam o zip da parte 4 e então exibam a sequência de exercícios usando o compartilhamento em janela.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Para cada exercício, controlem o tempo. Uma boa estimativa é aguardar o primeiro aluno terminar e então dêem mais 50% do tempo.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/>
              <a:t>Lembrem que, antes de executar no navegador, devem rodar o comando: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/>
              <a:t>node servidor.js</a:t>
            </a:r>
            <a:endParaRPr/>
          </a:p>
        </p:txBody>
      </p:sp>
      <p:sp>
        <p:nvSpPr>
          <p:cNvPr id="384" name="Google Shape;384;p7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7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Parte 4</a:t>
            </a:r>
            <a:endParaRPr b="1"/>
          </a:p>
        </p:txBody>
      </p:sp>
      <p:sp>
        <p:nvSpPr>
          <p:cNvPr id="390" name="Google Shape;390;p7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Parte 4</a:t>
            </a:r>
            <a:endParaRPr/>
          </a:p>
        </p:txBody>
      </p:sp>
      <p:sp>
        <p:nvSpPr>
          <p:cNvPr id="396" name="Google Shape;396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397" name="Google Shape;397;p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/>
              <a:t>1) No lado servidor, trate campos vazios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/>
              <a:t>Se algum campo estiver vazio, responda com uma mensagem de erro: “Por favor, preencha todos os campos.”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7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Parte 4</a:t>
            </a:r>
            <a:endParaRPr/>
          </a:p>
        </p:txBody>
      </p:sp>
      <p:sp>
        <p:nvSpPr>
          <p:cNvPr id="403" name="Google Shape;403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04" name="Google Shape;404;p7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/>
              <a:t>2) Validações no formulário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/>
              <a:t>Pesquise e descubra como incluir scripts de validação no formulário que impeçam  a requisição de ser feita se: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algum campo estiver vazio,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login sem @,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pt-BR"/>
              <a:t>senha com menos de 3 caracteres.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78"/>
          <p:cNvSpPr txBox="1"/>
          <p:nvPr>
            <p:ph idx="1" type="subTitle"/>
          </p:nvPr>
        </p:nvSpPr>
        <p:spPr>
          <a:xfrm>
            <a:off x="628650" y="2344519"/>
            <a:ext cx="7886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/>
          </a:p>
        </p:txBody>
      </p:sp>
      <p:sp>
        <p:nvSpPr>
          <p:cNvPr id="411" name="Google Shape;411;p78"/>
          <p:cNvSpPr txBox="1"/>
          <p:nvPr>
            <p:ph idx="12" type="sldNum"/>
          </p:nvPr>
        </p:nvSpPr>
        <p:spPr>
          <a:xfrm>
            <a:off x="8242631" y="4767263"/>
            <a:ext cx="5490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sp>
        <p:nvSpPr>
          <p:cNvPr id="412" name="Google Shape;412;p78"/>
          <p:cNvSpPr txBox="1"/>
          <p:nvPr>
            <p:ph idx="2" type="subTitle"/>
          </p:nvPr>
        </p:nvSpPr>
        <p:spPr>
          <a:xfrm>
            <a:off x="1827281" y="3645469"/>
            <a:ext cx="5489700" cy="2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