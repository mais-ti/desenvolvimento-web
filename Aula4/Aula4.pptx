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475f7c0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475f7c0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770b6e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770b6e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92df4489c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892df4489c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892df4489c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92df4489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892df4489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892df4489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92df4489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892df4489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892df4489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92df4489c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892df4489c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892df4489c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92df4489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892df4489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892df4489c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92df4489c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892df4489c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892df4489c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92df4489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892df4489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892df4489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92df4489c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892df4489c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892df4489c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92df4489c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892df4489c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892df4489c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92df4489c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892df4489c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892df4489c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92df4489c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892df4489c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892df4489c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92df4489c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892df4489c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892df4489c_0_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92df4489c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892df4489c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3892df4489c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92df4489c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892df4489c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3892df4489c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92df4489c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892df4489c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892df4489c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892df4489c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892df4489c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g3892df4489c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92df4489c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892df4489c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3892df4489c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92df4489c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892df4489c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g3892df4489c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92df4489c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892df4489c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892df4489c_0_2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92df4489c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892df4489c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892df4489c_0_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92df4489c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892df4489c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3892df4489c_0_3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92df4489c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892df4489c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g3892df4489c_0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892df4489c_0_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892df4489c_0_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892df4489c_0_3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892df4489c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892df4489c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g3892df4489c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892df4489c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892df4489c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g3892df4489c_0_3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892df4489c_0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892df4489c_0_3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892df4489c_0_3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92df4489c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892df4489c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892df4489c_0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92df4489c_0_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892df4489c_0_3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g3892df4489c_0_3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92df4489c_0_4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892df4489c_0_4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892df4489c_0_4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92df4489c_0_4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892df4489c_0_4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g3892df4489c_0_4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892df4489c_0_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892df4489c_0_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892df4489c_0_4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892df4489c_0_4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892df4489c_0_4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892df4489c_0_4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892df4489c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892df4489c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892df4489c_0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92df4489c_0_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892df4489c_0_5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892df4489c_0_5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892df4489c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892df4489c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892df4489c_0_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892df4489c_0_5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892df4489c_0_5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892df4489c_0_5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892df4489c_0_5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892df4489c_0_5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892df4489c_0_5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92df4489c_0_5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892df4489c_0_5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g3892df4489c_0_5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892df4489c_0_5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892df4489c_0_5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g3892df4489c_0_5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892df4489c_0_5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892df4489c_0_5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892df4489c_0_5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92df4489c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892df4489c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g3892df4489c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892df4489c_0_5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892df4489c_0_5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g3892df4489c_0_5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92df4489c_0_5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892df4489c_0_5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892df4489c_0_5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892df4489c_0_6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892df4489c_0_6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892df4489c_0_6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892df4489c_0_6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892df4489c_0_6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892df4489c_0_6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92df4489c_0_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892df4489c_0_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892df4489c_0_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892df4489c_0_6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892df4489c_0_6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892df4489c_0_6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892df4489c_0_6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892df4489c_0_6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892df4489c_0_6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892df4489c_0_6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3892df4489c_0_6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g3892df4489c_0_6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892df4489c_0_6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3892df4489c_0_6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g3892df4489c_0_6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892df4489c_0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g3892df4489c_0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892df4489c_0_6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892df4489c_0_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892df4489c_0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892df4489c_0_6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892df4489c_0_6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892df4489c_0_6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892df4489c_0_6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892df4489c_0_7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3892df4489c_0_7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892df4489c_0_7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892df4489c_0_7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892df4489c_0_7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g3892df4489c_0_7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892df4489c_0_7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892df4489c_0_7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g3892df4489c_0_7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892df4489c_0_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3892df4489c_0_7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g3892df4489c_0_7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892df4489c_0_7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892df4489c_0_7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3892df4489c_0_7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892df4489c_0_7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3892df4489c_0_7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7" name="Google Shape;837;g3892df4489c_0_7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892df4489c_0_8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g3892df4489c_0_8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7" name="Google Shape;847;g3892df4489c_0_8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892df4489c_0_8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892df4489c_0_8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7" name="Google Shape;857;g3892df4489c_0_8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892df4489c_0_8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3892df4489c_0_8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7" name="Google Shape;867;g3892df4489c_0_8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892df4489c_0_8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g3892df4489c_0_8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g3892df4489c_0_8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892df4489c_0_8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g3892df4489c_0_8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g3892df4489c_0_8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892df4489c_0_8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892df4489c_0_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7" name="Google Shape;897;g3892df4489c_0_8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892df4489c_0_8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g3892df4489c_0_8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7" name="Google Shape;907;g3892df4489c_0_8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892df4489c_0_8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g3892df4489c_0_8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g3892df4489c_0_8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892df4489c_0_9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g3892df4489c_0_9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g3892df4489c_0_9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892df4489c_0_9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892df4489c_0_9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g3892df4489c_0_9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892df4489c_0_10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g3892df4489c_0_10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892df4489c_0_10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892df4489c_0_10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3892df4489c_0_10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892df4489c_0_10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892df4489c_0_10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3892df4489c_0_10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892df4489c_0_10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892df4489c_0_1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g3892df4489c_0_1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g3892df4489c_0_10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892df4489c_0_1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892df4489c_0_1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g3892df4489c_0_10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892df4489c_0_1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g3892df4489c_0_1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5" name="Google Shape;995;g3892df4489c_0_1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892df4489c_0_1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g3892df4489c_0_1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3" name="Google Shape;1003;g3892df4489c_0_1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892df4489c_0_1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g3892df4489c_0_1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g3892df4489c_0_1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892df4489c_0_1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g3892df4489c_0_1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2" name="Google Shape;1022;g3892df4489c_0_1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892df4489c_0_1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g3892df4489c_0_1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3892df4489c_0_1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892df4489c_0_1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g3892df4489c_0_1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0" name="Google Shape;1040;g3892df4489c_0_1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892df4489c_0_1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g3892df4489c_0_1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9" name="Google Shape;1049;g3892df4489c_0_1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892df4489c_0_1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892df4489c_0_1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3892df4489c_0_1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892df4489c_0_1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g3892df4489c_0_1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g3892df4489c_0_1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892df4489c_0_1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g3892df4489c_0_1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g3892df4489c_0_1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892df4489c_0_1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g3892df4489c_0_1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8" name="Google Shape;1088;g3892df4489c_0_1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892df4489c_0_1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892df4489c_0_1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8" name="Google Shape;1098;g3892df4489c_0_1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892df4489c_0_1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g3892df4489c_0_1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8" name="Google Shape;1108;g3892df4489c_0_13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892df4489c_0_1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g3892df4489c_0_1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8" name="Google Shape;1118;g3892df4489c_0_1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892df4489c_0_1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7" name="Google Shape;1127;g3892df4489c_0_1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8" name="Google Shape;1128;g3892df4489c_0_13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892df4489c_0_1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g3892df4489c_0_1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8" name="Google Shape;1138;g3892df4489c_0_1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892df4489c_0_1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892df4489c_0_1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g3892df4489c_0_1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892df4489c_0_14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g3892df4489c_0_14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892df4489c_0_14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892df4489c_0_1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g3892df4489c_0_1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5" name="Google Shape;1165;g3892df4489c_0_1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892df4489c_0_15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3892df4489c_0_15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4" name="Google Shape;1174;g3892df4489c_0_15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892df4489c_0_1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g3892df4489c_0_1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3" name="Google Shape;1183;g3892df4489c_0_1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892df4489c_0_1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g3892df4489c_0_1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2" name="Google Shape;1192;g3892df4489c_0_1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892df4489c_0_1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0" name="Google Shape;1200;g3892df4489c_0_1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1" name="Google Shape;1201;g3892df4489c_0_15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892df4489c_0_1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3892df4489c_0_1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0" name="Google Shape;1210;g3892df4489c_0_15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892df4489c_0_1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3892df4489c_0_15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8" name="Google Shape;1218;g3892df4489c_0_15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892df4489c_0_15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6" name="Google Shape;1226;g3892df4489c_0_15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7" name="Google Shape;1227;g3892df4489c_0_15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892df4489c_0_1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6" name="Google Shape;1236;g3892df4489c_0_1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7" name="Google Shape;1237;g3892df4489c_0_15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892df4489c_0_15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3892df4489c_0_15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g3892df4489c_0_15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892df4489c_0_1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6" name="Google Shape;1256;g3892df4489c_0_1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7" name="Google Shape;1257;g3892df4489c_0_1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892df4489c_0_15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g3892df4489c_0_15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7" name="Google Shape;1267;g3892df4489c_0_15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892df4489c_0_15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6" name="Google Shape;1276;g3892df4489c_0_15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7" name="Google Shape;1277;g3892df4489c_0_15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892df4489c_0_1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6" name="Google Shape;1286;g3892df4489c_0_1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7" name="Google Shape;1287;g3892df4489c_0_16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892df4489c_0_16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6" name="Google Shape;1296;g3892df4489c_0_16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7" name="Google Shape;1297;g3892df4489c_0_16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892df4489c_0_16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g3892df4489c_0_16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7" name="Google Shape;1307;g3892df4489c_0_16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892df4489c_0_16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g3892df4489c_0_16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7" name="Google Shape;1317;g3892df4489c_0_16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892df4489c_0_16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6" name="Google Shape;1326;g3892df4489c_0_16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7" name="Google Shape;1327;g3892df4489c_0_16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892df4489c_0_16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4" name="Google Shape;1334;g3892df4489c_0_16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5" name="Google Shape;1335;g3892df4489c_0_16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892df4489c_0_1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g3892df4489c_0_1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5" name="Google Shape;1345;g3892df4489c_0_16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892df4489c_0_16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4" name="Google Shape;1354;g3892df4489c_0_16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5" name="Google Shape;1355;g3892df4489c_0_16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892df4489c_0_16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g3892df4489c_0_16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5" name="Google Shape;1365;g3892df4489c_0_16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892df4489c_0_16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4" name="Google Shape;1374;g3892df4489c_0_16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5" name="Google Shape;1375;g3892df4489c_0_16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892df4489c_0_16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4" name="Google Shape;1384;g3892df4489c_0_16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5" name="Google Shape;1385;g3892df4489c_0_16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892df4489c_0_16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g3892df4489c_0_16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5" name="Google Shape;1395;g3892df4489c_0_16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892df4489c_0_17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g3892df4489c_0_17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5" name="Google Shape;1405;g3892df4489c_0_17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892df4489c_0_1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g3892df4489c_0_1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5" name="Google Shape;1415;g3892df4489c_0_1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892df4489c_0_17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2" name="Google Shape;1422;g3892df4489c_0_17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3" name="Google Shape;1423;g3892df4489c_0_17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892df4489c_0_17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2" name="Google Shape;1432;g3892df4489c_0_17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3" name="Google Shape;1433;g3892df4489c_0_17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892df4489c_0_17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g3892df4489c_0_17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3" name="Google Shape;1443;g3892df4489c_0_17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892df4489c_0_17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2" name="Google Shape;1452;g3892df4489c_0_17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3" name="Google Shape;1453;g3892df4489c_0_17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8475f7c0f9_0_1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2" name="Google Shape;1462;g38475f7c0f9_0_1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3" name="Google Shape;1463;g38475f7c0f9_0_15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">
  <p:cSld name="OBJECT_2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Agradecimento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1348256" y="1026917"/>
            <a:ext cx="6447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MUITO</a:t>
            </a:r>
            <a:br>
              <a:rPr b="0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pt-BR" sz="7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</a:t>
            </a:r>
            <a:endParaRPr b="0" i="0" sz="5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" name="Google Shape;73;p17"/>
          <p:cNvSpPr txBox="1"/>
          <p:nvPr>
            <p:ph idx="3" type="subTitle"/>
          </p:nvPr>
        </p:nvSpPr>
        <p:spPr>
          <a:xfrm>
            <a:off x="1827281" y="38866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">
  <p:cSld name="SECTION_HEADER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18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628650" y="1646419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3" type="body"/>
          </p:nvPr>
        </p:nvSpPr>
        <p:spPr>
          <a:xfrm>
            <a:off x="4694419" y="1646363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2">
  <p:cSld name="SECTION_HEADER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1" name="Google Shape;91;p20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2">
  <p:cSld name="OBJECT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3">
  <p:cSld name="SECTION_HEADER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3">
  <p:cSld name="OBJECT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2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4">
  <p:cSld name="SECTION_HEADER_5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4">
  <p:cSld name="OBJECT_5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2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5">
  <p:cSld name="SECTION_HEADER_6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5">
  <p:cSld name="OBJECT_6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2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1">
  <p:cSld name="OBJECT_2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6">
  <p:cSld name="OBJECT_7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" name="Google Shape;133;p2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7">
  <p:cSld name="OBJECT_8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p3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6">
  <p:cSld name="SECTION_HEADER_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8">
  <p:cSld name="OBJECT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3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2">
  <p:cSld name="OBJECT_2_3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" name="Google Shape;150;p33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9">
  <p:cSld name="OBJECT_10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p3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7">
  <p:cSld name="SECTION_HEADER_8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3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0">
  <p:cSld name="OBJECT_1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p3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3">
  <p:cSld name="OBJECT_2_4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3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1">
  <p:cSld name="OBJECT_1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3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" name="Google Shape;174;p3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8">
  <p:cSld name="SECTION_HEADER_9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8" name="Google Shape;178;p3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2">
  <p:cSld name="OBJECT_1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4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9">
  <p:cSld name="SECTION_HEADER_10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86" name="Google Shape;186;p4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7" name="Google Shape;187;p4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3">
  <p:cSld name="OBJECT_14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4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0">
  <p:cSld name="SECTION_HEADER_1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5" name="Google Shape;195;p4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6" name="Google Shape;196;p4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4">
  <p:cSld name="OBJECT_1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9" name="Google Shape;199;p4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4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p4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1">
  <p:cSld name="SECTION_HEADER_1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4" name="Google Shape;204;p4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5" name="Google Shape;205;p4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5">
  <p:cSld name="OBJECT_16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4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p4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4">
  <p:cSld name="OBJECT_2_5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7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47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2">
  <p:cSld name="SECTION_HEADER_13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7" name="Google Shape;217;p4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8" name="Google Shape;218;p4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6">
  <p:cSld name="OBJECT_1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4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3" name="Google Shape;223;p4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3">
  <p:cSld name="SECTION_HEADER_1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26" name="Google Shape;226;p5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7" name="Google Shape;227;p5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7">
  <p:cSld name="OBJECT_18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2" name="Google Shape;232;p5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4">
  <p:cSld name="SECTION_HEADER_1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5" name="Google Shape;235;p5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6" name="Google Shape;236;p5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8">
  <p:cSld name="OBJECT_19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5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5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5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Web</a:t>
            </a:r>
            <a:endParaRPr/>
          </a:p>
        </p:txBody>
      </p:sp>
      <p:sp>
        <p:nvSpPr>
          <p:cNvPr id="247" name="Google Shape;247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4</a:t>
            </a:r>
            <a:endParaRPr/>
          </a:p>
        </p:txBody>
      </p:sp>
      <p:sp>
        <p:nvSpPr>
          <p:cNvPr id="248" name="Google Shape;248;p54"/>
          <p:cNvSpPr txBox="1"/>
          <p:nvPr>
            <p:ph idx="1" type="subTitle"/>
          </p:nvPr>
        </p:nvSpPr>
        <p:spPr>
          <a:xfrm>
            <a:off x="304936" y="4310097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Prof. Calebe Conceiç</a:t>
            </a:r>
            <a:r>
              <a:rPr lang="pt-BR" sz="2000">
                <a:solidFill>
                  <a:schemeClr val="dk1"/>
                </a:solidFill>
              </a:rPr>
              <a:t>ão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O que vimos na última aula?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Aprendemos os primeiros passos para desenvolver nossas p</a:t>
            </a:r>
            <a:r>
              <a:rPr lang="pt-BR"/>
              <a:t>áginas web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Conhecemos os ambientes de desenvolvimento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Constru</a:t>
            </a:r>
            <a:r>
              <a:rPr lang="pt-BR"/>
              <a:t>í</a:t>
            </a:r>
            <a:r>
              <a:rPr lang="pt-BR"/>
              <a:t>mos nossas primeiras p</a:t>
            </a:r>
            <a:r>
              <a:rPr lang="pt-BR"/>
              <a:t>áginas com 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Entendemos o que é o 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Realizamos práticas simples e enviamos para o servidor, para acesso público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Listas, Imagens, Tabelas, Formulários</a:t>
            </a:r>
            <a:endParaRPr/>
          </a:p>
        </p:txBody>
      </p:sp>
      <p:sp>
        <p:nvSpPr>
          <p:cNvPr id="255" name="Google Shape;25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vamos ver hoje: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As p</a:t>
            </a:r>
            <a:r>
              <a:rPr lang="pt-BR"/>
              <a:t>áginas que construímos até aqui eram funcionais, mas muito feias!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Hoje vamos começar a aprender a definir estilos para elas!</a:t>
            </a:r>
            <a:endParaRPr/>
          </a:p>
        </p:txBody>
      </p:sp>
      <p:sp>
        <p:nvSpPr>
          <p:cNvPr id="262" name="Google Shape;26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Na nossa primeira aula...</a:t>
            </a:r>
            <a:endParaRPr/>
          </a:p>
        </p:txBody>
      </p:sp>
      <p:sp>
        <p:nvSpPr>
          <p:cNvPr id="269" name="Google Shape;269;p57"/>
          <p:cNvSpPr txBox="1"/>
          <p:nvPr>
            <p:ph idx="1" type="body"/>
          </p:nvPr>
        </p:nvSpPr>
        <p:spPr>
          <a:xfrm>
            <a:off x="628650" y="1653038"/>
            <a:ext cx="5180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[Navegadores] Interpretam o código que vem em arquivos de um servidor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ou arquivo do PC mesmo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Front-end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HTML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b="1" lang="pt-BR"/>
              <a:t>CSS</a:t>
            </a:r>
            <a:endParaRPr b="1"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i="1" lang="pt-BR"/>
              <a:t>JavaScript</a:t>
            </a:r>
            <a:endParaRPr i="1"/>
          </a:p>
        </p:txBody>
      </p:sp>
      <p:sp>
        <p:nvSpPr>
          <p:cNvPr id="270" name="Google Shape;270;p5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p5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72" name="Google Shape;27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65" y="2348903"/>
            <a:ext cx="2807963" cy="1351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Antes do CSS tudo era mato</a:t>
            </a:r>
            <a:endParaRPr/>
          </a:p>
        </p:txBody>
      </p:sp>
      <p:sp>
        <p:nvSpPr>
          <p:cNvPr id="279" name="Google Shape;279;p58"/>
          <p:cNvSpPr txBox="1"/>
          <p:nvPr>
            <p:ph idx="1" type="body"/>
          </p:nvPr>
        </p:nvSpPr>
        <p:spPr>
          <a:xfrm>
            <a:off x="628650" y="1653038"/>
            <a:ext cx="41082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HTML é bem limitado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Como vocês podem ter notado, as páginas que vocês criaram até agora são bem simples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Sem muita possibilidade de formatação e organização do conteúdo</a:t>
            </a:r>
            <a:endParaRPr/>
          </a:p>
        </p:txBody>
      </p:sp>
      <p:sp>
        <p:nvSpPr>
          <p:cNvPr id="280" name="Google Shape;280;p5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1" name="Google Shape;281;p5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82" name="Google Shape;2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569" y="1701451"/>
            <a:ext cx="3810270" cy="294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Da onde vem o CSS?</a:t>
            </a:r>
            <a:endParaRPr/>
          </a:p>
        </p:txBody>
      </p:sp>
      <p:sp>
        <p:nvSpPr>
          <p:cNvPr id="289" name="Google Shape;289;p59"/>
          <p:cNvSpPr txBox="1"/>
          <p:nvPr>
            <p:ph idx="1" type="body"/>
          </p:nvPr>
        </p:nvSpPr>
        <p:spPr>
          <a:xfrm>
            <a:off x="628650" y="1653038"/>
            <a:ext cx="41082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Criado em 1994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Håkon Wium Lie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Trabalhava no CERN com o criador do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Lançada mesmo em 1996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Suporte no IE3</a:t>
            </a:r>
            <a:endParaRPr/>
          </a:p>
        </p:txBody>
      </p:sp>
      <p:sp>
        <p:nvSpPr>
          <p:cNvPr id="290" name="Google Shape;290;p5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1" name="Google Shape;291;p5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292" name="Google Shape;29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863" y="1934990"/>
            <a:ext cx="2225700" cy="2484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9"/>
          <p:cNvPicPr preferRelativeResize="0"/>
          <p:nvPr/>
        </p:nvPicPr>
        <p:blipFill rotWithShape="1">
          <a:blip r:embed="rId4">
            <a:alphaModFix/>
          </a:blip>
          <a:srcRect b="0" l="50891" r="0" t="0"/>
          <a:stretch/>
        </p:blipFill>
        <p:spPr>
          <a:xfrm>
            <a:off x="4632267" y="1701450"/>
            <a:ext cx="1871157" cy="294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Da onde vem o CSS?</a:t>
            </a:r>
            <a:endParaRPr/>
          </a:p>
        </p:txBody>
      </p:sp>
      <p:sp>
        <p:nvSpPr>
          <p:cNvPr id="300" name="Google Shape;300;p60"/>
          <p:cNvSpPr txBox="1"/>
          <p:nvPr>
            <p:ph idx="1" type="body"/>
          </p:nvPr>
        </p:nvSpPr>
        <p:spPr>
          <a:xfrm>
            <a:off x="628650" y="1653038"/>
            <a:ext cx="41082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CSS está na versão 3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Já passou por alterações e evoluções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Mantido pela W3C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Suportado pela grande maioria dos navegadores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Facilita muito a vida no geral</a:t>
            </a:r>
            <a:endParaRPr/>
          </a:p>
        </p:txBody>
      </p:sp>
      <p:sp>
        <p:nvSpPr>
          <p:cNvPr id="301" name="Google Shape;301;p6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2" name="Google Shape;302;p6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03" name="Google Shape;303;p60"/>
          <p:cNvPicPr preferRelativeResize="0"/>
          <p:nvPr/>
        </p:nvPicPr>
        <p:blipFill rotWithShape="1">
          <a:blip r:embed="rId3">
            <a:alphaModFix/>
          </a:blip>
          <a:srcRect b="0" l="50891" r="0" t="0"/>
          <a:stretch/>
        </p:blipFill>
        <p:spPr>
          <a:xfrm>
            <a:off x="6207455" y="1777865"/>
            <a:ext cx="1871157" cy="294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 + CSS</a:t>
            </a:r>
            <a:endParaRPr/>
          </a:p>
        </p:txBody>
      </p:sp>
      <p:sp>
        <p:nvSpPr>
          <p:cNvPr id="310" name="Google Shape;31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61" title="antes_depo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8503"/>
            <a:ext cx="4572001" cy="5065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 que é o CSS?</a:t>
            </a:r>
            <a:endParaRPr/>
          </a:p>
        </p:txBody>
      </p:sp>
      <p:sp>
        <p:nvSpPr>
          <p:cNvPr id="318" name="Google Shape;318;p62"/>
          <p:cNvSpPr txBox="1"/>
          <p:nvPr>
            <p:ph idx="1" type="body"/>
          </p:nvPr>
        </p:nvSpPr>
        <p:spPr>
          <a:xfrm>
            <a:off x="628650" y="1653038"/>
            <a:ext cx="5120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Cascading Style Sheets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Folhas de estilo em cascata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Não é linguagem de programação!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É um linguagem de estilo para adicionar </a:t>
            </a:r>
            <a:r>
              <a:rPr b="1" lang="pt-BR"/>
              <a:t>estilos </a:t>
            </a:r>
            <a:r>
              <a:rPr lang="pt-BR"/>
              <a:t>ao HTML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fontes, cores, espaçamentos, bordas, etc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tudo que pode ser alterado no html de estilo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vários atributos podem ser alterados</a:t>
            </a:r>
            <a:endParaRPr/>
          </a:p>
        </p:txBody>
      </p:sp>
      <p:sp>
        <p:nvSpPr>
          <p:cNvPr id="319" name="Google Shape;319;p6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0" name="Google Shape;320;p6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21" name="Google Shape;321;p62"/>
          <p:cNvPicPr preferRelativeResize="0"/>
          <p:nvPr/>
        </p:nvPicPr>
        <p:blipFill rotWithShape="1">
          <a:blip r:embed="rId3">
            <a:alphaModFix/>
          </a:blip>
          <a:srcRect b="0" l="50891" r="0" t="0"/>
          <a:stretch/>
        </p:blipFill>
        <p:spPr>
          <a:xfrm>
            <a:off x="6207455" y="1777865"/>
            <a:ext cx="1871157" cy="294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 que é o CSS?</a:t>
            </a:r>
            <a:endParaRPr/>
          </a:p>
        </p:txBody>
      </p:sp>
      <p:sp>
        <p:nvSpPr>
          <p:cNvPr id="328" name="Google Shape;328;p63"/>
          <p:cNvSpPr txBox="1"/>
          <p:nvPr>
            <p:ph idx="1" type="body"/>
          </p:nvPr>
        </p:nvSpPr>
        <p:spPr>
          <a:xfrm>
            <a:off x="628650" y="1653038"/>
            <a:ext cx="5120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Separar o estilo do conteúdo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conteúdo é 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estilo é 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forma de apresentar pode variar de acordo com o estilo que daremos ao conteúdo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Por que vocês acham que isso seria bom?</a:t>
            </a:r>
            <a:endParaRPr/>
          </a:p>
        </p:txBody>
      </p:sp>
      <p:sp>
        <p:nvSpPr>
          <p:cNvPr id="329" name="Google Shape;329;p6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p6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31" name="Google Shape;33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1681" y="2324654"/>
            <a:ext cx="3517482" cy="146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 que é o CSS?</a:t>
            </a:r>
            <a:endParaRPr/>
          </a:p>
        </p:txBody>
      </p:sp>
      <p:sp>
        <p:nvSpPr>
          <p:cNvPr id="338" name="Google Shape;338;p64"/>
          <p:cNvSpPr txBox="1"/>
          <p:nvPr>
            <p:ph idx="1" type="body"/>
          </p:nvPr>
        </p:nvSpPr>
        <p:spPr>
          <a:xfrm>
            <a:off x="628650" y="1653038"/>
            <a:ext cx="5120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“Um código é escrito uma vez, e lido muitas vezes” </a:t>
            </a:r>
            <a:r>
              <a:rPr i="1" lang="pt-BR"/>
              <a:t>[alguém muito inteligente]</a:t>
            </a:r>
            <a:endParaRPr i="1"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Organizar melhor o código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Isolar interesses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Estilo é estilo, e conteúdo é conteúdo!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Tornar o código mais fácil de ser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entendido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alterado</a:t>
            </a:r>
            <a:endParaRPr/>
          </a:p>
        </p:txBody>
      </p:sp>
      <p:sp>
        <p:nvSpPr>
          <p:cNvPr id="339" name="Google Shape;339;p6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0" name="Google Shape;340;p6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341" name="Google Shape;34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1681" y="2324654"/>
            <a:ext cx="3517482" cy="146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Como colocar CSS</a:t>
            </a:r>
            <a:endParaRPr/>
          </a:p>
        </p:txBody>
      </p:sp>
      <p:sp>
        <p:nvSpPr>
          <p:cNvPr id="348" name="Google Shape;348;p65"/>
          <p:cNvSpPr txBox="1"/>
          <p:nvPr>
            <p:ph idx="1" type="body"/>
          </p:nvPr>
        </p:nvSpPr>
        <p:spPr>
          <a:xfrm>
            <a:off x="628650" y="1653038"/>
            <a:ext cx="5120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Existem 3 formas de inserir CSS no código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inline ⇒ em linha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internal ⇒ interna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external ⇒ externa</a:t>
            </a:r>
            <a:endParaRPr/>
          </a:p>
        </p:txBody>
      </p:sp>
      <p:sp>
        <p:nvSpPr>
          <p:cNvPr id="349" name="Google Shape;349;p6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0" name="Google Shape;350;p6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inline</a:t>
            </a:r>
            <a:endParaRPr/>
          </a:p>
        </p:txBody>
      </p:sp>
      <p:sp>
        <p:nvSpPr>
          <p:cNvPr id="357" name="Google Shape;357;p66"/>
          <p:cNvSpPr txBox="1"/>
          <p:nvPr>
            <p:ph idx="1" type="body"/>
          </p:nvPr>
        </p:nvSpPr>
        <p:spPr>
          <a:xfrm>
            <a:off x="628650" y="1653038"/>
            <a:ext cx="3726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Testem aí...</a:t>
            </a:r>
            <a:endParaRPr/>
          </a:p>
        </p:txBody>
      </p:sp>
      <p:sp>
        <p:nvSpPr>
          <p:cNvPr id="358" name="Google Shape;358;p6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9" name="Google Shape;359;p6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60" name="Google Shape;360;p66"/>
          <p:cNvSpPr txBox="1"/>
          <p:nvPr/>
        </p:nvSpPr>
        <p:spPr>
          <a:xfrm>
            <a:off x="4354856" y="0"/>
            <a:ext cx="47892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um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8763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o segundo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inline</a:t>
            </a:r>
            <a:endParaRPr/>
          </a:p>
        </p:txBody>
      </p:sp>
      <p:sp>
        <p:nvSpPr>
          <p:cNvPr id="367" name="Google Shape;367;p67"/>
          <p:cNvSpPr txBox="1"/>
          <p:nvPr>
            <p:ph idx="1" type="body"/>
          </p:nvPr>
        </p:nvSpPr>
        <p:spPr>
          <a:xfrm>
            <a:off x="628650" y="1653038"/>
            <a:ext cx="3726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Testem aí…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Qual o problema dessa forma de usar o css?</a:t>
            </a:r>
            <a:endParaRPr/>
          </a:p>
        </p:txBody>
      </p:sp>
      <p:sp>
        <p:nvSpPr>
          <p:cNvPr id="368" name="Google Shape;368;p6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9" name="Google Shape;369;p6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70" name="Google Shape;370;p67"/>
          <p:cNvSpPr txBox="1"/>
          <p:nvPr/>
        </p:nvSpPr>
        <p:spPr>
          <a:xfrm>
            <a:off x="4354856" y="0"/>
            <a:ext cx="47892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um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8763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o segundo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inline</a:t>
            </a:r>
            <a:endParaRPr/>
          </a:p>
        </p:txBody>
      </p:sp>
      <p:sp>
        <p:nvSpPr>
          <p:cNvPr id="377" name="Google Shape;377;p68"/>
          <p:cNvSpPr txBox="1"/>
          <p:nvPr>
            <p:ph idx="1" type="body"/>
          </p:nvPr>
        </p:nvSpPr>
        <p:spPr>
          <a:xfrm>
            <a:off x="628650" y="1653038"/>
            <a:ext cx="3726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Dentro do próprio marcador HTML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Somente aplicável para 1 marcador HTML</a:t>
            </a:r>
            <a:endParaRPr b="1"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Não é recomendável de usar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Replicação de código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Mistura o código de conteúdo com o código de estilo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Difícil de achar dentro do html</a:t>
            </a:r>
            <a:endParaRPr/>
          </a:p>
        </p:txBody>
      </p:sp>
      <p:sp>
        <p:nvSpPr>
          <p:cNvPr id="378" name="Google Shape;378;p6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9" name="Google Shape;379;p6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80" name="Google Shape;380;p68"/>
          <p:cNvSpPr txBox="1"/>
          <p:nvPr/>
        </p:nvSpPr>
        <p:spPr>
          <a:xfrm>
            <a:off x="4354856" y="0"/>
            <a:ext cx="47892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um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8763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style="color:#ff0000; font-size:48px; font-weight:bold; background-color:#0000ff; width:300px;"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Este é o segundo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387" name="Google Shape;387;p69"/>
          <p:cNvSpPr txBox="1"/>
          <p:nvPr>
            <p:ph idx="1" type="body"/>
          </p:nvPr>
        </p:nvSpPr>
        <p:spPr>
          <a:xfrm>
            <a:off x="628650" y="1653038"/>
            <a:ext cx="45384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Dentro do próprio arquivos HTML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Separado dentro do &lt;head&gt; &lt;/head&gt;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Dentro do marcador </a:t>
            </a:r>
            <a:r>
              <a:rPr b="1" lang="pt-BR"/>
              <a:t>&lt;style&gt; &lt;/style&gt;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Reduz o código replicado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[ainda] Não é recomendável de usar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Tem alguns problemas...</a:t>
            </a:r>
            <a:endParaRPr/>
          </a:p>
        </p:txBody>
      </p:sp>
      <p:sp>
        <p:nvSpPr>
          <p:cNvPr id="388" name="Google Shape;388;p6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9" name="Google Shape;389;p6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390" name="Google Shape;390;p69"/>
          <p:cNvSpPr txBox="1"/>
          <p:nvPr/>
        </p:nvSpPr>
        <p:spPr>
          <a:xfrm>
            <a:off x="5513663" y="1587150"/>
            <a:ext cx="36303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&lt;style&gt;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/*estilos aqui!*/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&lt;/style&gt;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Como colocar CSS?</a:t>
            </a:r>
            <a:endParaRPr/>
          </a:p>
        </p:txBody>
      </p:sp>
      <p:sp>
        <p:nvSpPr>
          <p:cNvPr id="397" name="Google Shape;397;p7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Agora o estilo não está mais direto no marcador que deve ser customizado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Usando CSS interno, temos de identificar quais elementos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Para isso o CSS tem 3 elementos básicos:</a:t>
            </a:r>
            <a:endParaRPr/>
          </a:p>
        </p:txBody>
      </p:sp>
      <p:sp>
        <p:nvSpPr>
          <p:cNvPr id="398" name="Google Shape;398;p7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9" name="Google Shape;399;p7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00" name="Google Shape;400;p70"/>
          <p:cNvSpPr txBox="1"/>
          <p:nvPr/>
        </p:nvSpPr>
        <p:spPr>
          <a:xfrm>
            <a:off x="455081" y="3433238"/>
            <a:ext cx="84639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seletor { atributo : valor-do-atributo; }</a:t>
            </a:r>
            <a:endParaRPr b="0" i="0" sz="2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</a:t>
            </a:r>
            <a:endParaRPr/>
          </a:p>
        </p:txBody>
      </p:sp>
      <p:sp>
        <p:nvSpPr>
          <p:cNvPr id="407" name="Google Shape;407;p7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Seleciona os marcadores html que serão afetados pelo estilo definido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sempre vem primeiro, antes da definição de estilo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uma das formas de seleção é colocar o marcador html que vai ser aplicado o estilo</a:t>
            </a:r>
            <a:endParaRPr/>
          </a:p>
        </p:txBody>
      </p:sp>
      <p:sp>
        <p:nvSpPr>
          <p:cNvPr id="408" name="Google Shape;408;p7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9" name="Google Shape;409;p7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10" name="Google Shape;410;p71"/>
          <p:cNvSpPr txBox="1"/>
          <p:nvPr/>
        </p:nvSpPr>
        <p:spPr>
          <a:xfrm>
            <a:off x="455081" y="3433238"/>
            <a:ext cx="84639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seletor </a:t>
            </a: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atributo : valor-do-atributo; }</a:t>
            </a:r>
            <a:endParaRPr b="0" i="0" sz="2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Separadores</a:t>
            </a:r>
            <a:endParaRPr/>
          </a:p>
        </p:txBody>
      </p:sp>
      <p:sp>
        <p:nvSpPr>
          <p:cNvPr id="417" name="Google Shape;417;p7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{ } ⇒ separador de bloco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define o estilo do seletor anterior ao { }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: ⇒ divide o atributo do valor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; ⇒ encerra um par atributo-valor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podemos ter mais de um atributo por bloco</a:t>
            </a:r>
            <a:endParaRPr/>
          </a:p>
        </p:txBody>
      </p:sp>
      <p:sp>
        <p:nvSpPr>
          <p:cNvPr id="418" name="Google Shape;418;p7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9" name="Google Shape;419;p7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20" name="Google Shape;420;p72"/>
          <p:cNvSpPr txBox="1"/>
          <p:nvPr/>
        </p:nvSpPr>
        <p:spPr>
          <a:xfrm>
            <a:off x="1272263" y="3567788"/>
            <a:ext cx="65994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seletor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atributo1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valor-do-atributo1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atributo2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valor-do-atributo2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</a:t>
            </a:r>
            <a:endParaRPr/>
          </a:p>
        </p:txBody>
      </p:sp>
      <p:sp>
        <p:nvSpPr>
          <p:cNvPr id="427" name="Google Shape;427;p7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É a propriedade do HTML que vai ser modificada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HTML tem muitas propriedades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vocês viram no exemplo do parágrafo anterior...</a:t>
            </a:r>
            <a:endParaRPr/>
          </a:p>
        </p:txBody>
      </p:sp>
      <p:sp>
        <p:nvSpPr>
          <p:cNvPr id="428" name="Google Shape;428;p7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9" name="Google Shape;429;p7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30" name="Google Shape;430;p73"/>
          <p:cNvSpPr txBox="1"/>
          <p:nvPr/>
        </p:nvSpPr>
        <p:spPr>
          <a:xfrm>
            <a:off x="455081" y="3433238"/>
            <a:ext cx="84639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seletor {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atributo </a:t>
            </a: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valor-do-atributo; }</a:t>
            </a:r>
            <a:endParaRPr b="0" i="0" sz="2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Valor do atributo</a:t>
            </a:r>
            <a:endParaRPr/>
          </a:p>
        </p:txBody>
      </p:sp>
      <p:sp>
        <p:nvSpPr>
          <p:cNvPr id="437" name="Google Shape;437;p7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É o valor da propriedade que vai ser aplicado nos elementos css selecionados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Altera o valor do atributo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de acordo com o atributo</a:t>
            </a:r>
            <a:endParaRPr/>
          </a:p>
        </p:txBody>
      </p:sp>
      <p:sp>
        <p:nvSpPr>
          <p:cNvPr id="438" name="Google Shape;438;p7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9" name="Google Shape;439;p7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40" name="Google Shape;440;p74"/>
          <p:cNvSpPr txBox="1"/>
          <p:nvPr/>
        </p:nvSpPr>
        <p:spPr>
          <a:xfrm>
            <a:off x="455081" y="3433238"/>
            <a:ext cx="84639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seletor { atributo : </a:t>
            </a:r>
            <a:r>
              <a:rPr b="1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valor-do-atributo</a:t>
            </a:r>
            <a:r>
              <a:rPr b="0" i="0" lang="pt-BR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2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inline</a:t>
            </a:r>
            <a:endParaRPr/>
          </a:p>
        </p:txBody>
      </p:sp>
      <p:sp>
        <p:nvSpPr>
          <p:cNvPr id="447" name="Google Shape;447;p75"/>
          <p:cNvSpPr txBox="1"/>
          <p:nvPr>
            <p:ph idx="1" type="body"/>
          </p:nvPr>
        </p:nvSpPr>
        <p:spPr>
          <a:xfrm>
            <a:off x="628650" y="1653038"/>
            <a:ext cx="3726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Qual é o seletor que vamos usar?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Quais são os atributos?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Quais os valores?</a:t>
            </a:r>
            <a:endParaRPr b="1"/>
          </a:p>
        </p:txBody>
      </p:sp>
      <p:sp>
        <p:nvSpPr>
          <p:cNvPr id="448" name="Google Shape;448;p7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9" name="Google Shape;449;p7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50" name="Google Shape;450;p75"/>
          <p:cNvSpPr txBox="1"/>
          <p:nvPr/>
        </p:nvSpPr>
        <p:spPr>
          <a:xfrm>
            <a:off x="4354856" y="0"/>
            <a:ext cx="47892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style="color:#ff0000; font-size:48px; font-weight:bold; background-color:#0000ff; width:300px;"&gt; Este é um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8763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style="color:#ff0000; font-size:48px; font-weight:bold; background-color:#0000ff; width:300px;"&gt; Este é o segundo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inline</a:t>
            </a:r>
            <a:endParaRPr/>
          </a:p>
        </p:txBody>
      </p:sp>
      <p:sp>
        <p:nvSpPr>
          <p:cNvPr id="457" name="Google Shape;457;p76"/>
          <p:cNvSpPr txBox="1"/>
          <p:nvPr>
            <p:ph idx="1" type="body"/>
          </p:nvPr>
        </p:nvSpPr>
        <p:spPr>
          <a:xfrm>
            <a:off x="628650" y="1653038"/>
            <a:ext cx="37263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Qual é o </a:t>
            </a:r>
            <a:r>
              <a:rPr b="1" lang="pt-BR">
                <a:solidFill>
                  <a:srgbClr val="FF0000"/>
                </a:solidFill>
              </a:rPr>
              <a:t>seletor </a:t>
            </a:r>
            <a:r>
              <a:rPr lang="pt-BR"/>
              <a:t>que vamos usar?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Quais são os </a:t>
            </a:r>
            <a:r>
              <a:rPr b="1" lang="pt-BR">
                <a:solidFill>
                  <a:srgbClr val="0000FF"/>
                </a:solidFill>
              </a:rPr>
              <a:t>atributos</a:t>
            </a:r>
            <a:r>
              <a:rPr lang="pt-BR"/>
              <a:t>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Quais os </a:t>
            </a:r>
            <a:r>
              <a:rPr b="1" lang="pt-BR">
                <a:solidFill>
                  <a:srgbClr val="38761D"/>
                </a:solidFill>
              </a:rPr>
              <a:t>valores</a:t>
            </a:r>
            <a:r>
              <a:rPr lang="pt-BR"/>
              <a:t>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que ficaria o css interno disso?</a:t>
            </a:r>
            <a:endParaRPr/>
          </a:p>
        </p:txBody>
      </p:sp>
      <p:sp>
        <p:nvSpPr>
          <p:cNvPr id="458" name="Google Shape;458;p7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9" name="Google Shape;459;p7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60" name="Google Shape;460;p76"/>
          <p:cNvSpPr txBox="1"/>
          <p:nvPr/>
        </p:nvSpPr>
        <p:spPr>
          <a:xfrm>
            <a:off x="4354856" y="0"/>
            <a:ext cx="47892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pt-BR" sz="21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style="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;"&gt; Este é um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8763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i="0" lang="pt-BR" sz="21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style="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:#ff0000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2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210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;"&gt; Este é o segundo parágrafo! &lt;/p&gt;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467" name="Google Shape;467;p77"/>
          <p:cNvSpPr txBox="1"/>
          <p:nvPr>
            <p:ph idx="1" type="body"/>
          </p:nvPr>
        </p:nvSpPr>
        <p:spPr>
          <a:xfrm>
            <a:off x="628650" y="1653038"/>
            <a:ext cx="272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Como que ficaria o CSS interno?</a:t>
            </a:r>
            <a:endParaRPr/>
          </a:p>
        </p:txBody>
      </p:sp>
      <p:sp>
        <p:nvSpPr>
          <p:cNvPr id="468" name="Google Shape;468;p7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9" name="Google Shape;469;p7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70" name="Google Shape;470;p77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14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477" name="Google Shape;477;p78"/>
          <p:cNvSpPr txBox="1"/>
          <p:nvPr>
            <p:ph idx="1" type="body"/>
          </p:nvPr>
        </p:nvSpPr>
        <p:spPr>
          <a:xfrm>
            <a:off x="628650" y="1653038"/>
            <a:ext cx="272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Como que ficaria o CSS interno?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O que acontece com o estilo dos p?</a:t>
            </a:r>
            <a:endParaRPr b="1"/>
          </a:p>
        </p:txBody>
      </p:sp>
      <p:sp>
        <p:nvSpPr>
          <p:cNvPr id="478" name="Google Shape;478;p7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9" name="Google Shape;479;p7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80" name="Google Shape;480;p78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14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628650" y="1653038"/>
            <a:ext cx="272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Como que ficaria o CSS interno?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troca o estilo de todos os marcadores de combinam com o seletor!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todos os </a:t>
            </a:r>
            <a:r>
              <a:rPr b="1" lang="pt-BR"/>
              <a:t>p</a:t>
            </a:r>
            <a:r>
              <a:rPr lang="pt-BR"/>
              <a:t>, no caso...</a:t>
            </a:r>
            <a:endParaRPr b="1"/>
          </a:p>
        </p:txBody>
      </p:sp>
      <p:sp>
        <p:nvSpPr>
          <p:cNvPr id="488" name="Google Shape;488;p7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9" name="Google Shape;489;p7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90" name="Google Shape;490;p79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14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497" name="Google Shape;497;p80"/>
          <p:cNvSpPr txBox="1"/>
          <p:nvPr>
            <p:ph idx="1" type="body"/>
          </p:nvPr>
        </p:nvSpPr>
        <p:spPr>
          <a:xfrm>
            <a:off x="628650" y="1653038"/>
            <a:ext cx="272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Troquem algum dos valores dos atributos para ver...</a:t>
            </a:r>
            <a:endParaRPr/>
          </a:p>
        </p:txBody>
      </p:sp>
      <p:sp>
        <p:nvSpPr>
          <p:cNvPr id="498" name="Google Shape;498;p8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9" name="Google Shape;499;p8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00" name="Google Shape;500;p80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14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interno</a:t>
            </a:r>
            <a:endParaRPr/>
          </a:p>
        </p:txBody>
      </p:sp>
      <p:sp>
        <p:nvSpPr>
          <p:cNvPr id="507" name="Google Shape;507;p81"/>
          <p:cNvSpPr txBox="1"/>
          <p:nvPr>
            <p:ph idx="1" type="body"/>
          </p:nvPr>
        </p:nvSpPr>
        <p:spPr>
          <a:xfrm>
            <a:off x="628650" y="1653038"/>
            <a:ext cx="2725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Qual problema de usar css interno?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Reaproveitamento entre arquivos 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Usar em mais de um arquivo HTML tem de copiar ele no head de cada um deles</a:t>
            </a:r>
            <a:endParaRPr/>
          </a:p>
        </p:txBody>
      </p:sp>
      <p:sp>
        <p:nvSpPr>
          <p:cNvPr id="508" name="Google Shape;508;p8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9" name="Google Shape;509;p8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10" name="Google Shape;510;p81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17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14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7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7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Externo</a:t>
            </a:r>
            <a:endParaRPr/>
          </a:p>
        </p:txBody>
      </p:sp>
      <p:sp>
        <p:nvSpPr>
          <p:cNvPr id="517" name="Google Shape;517;p82"/>
          <p:cNvSpPr txBox="1"/>
          <p:nvPr>
            <p:ph idx="1" type="body"/>
          </p:nvPr>
        </p:nvSpPr>
        <p:spPr>
          <a:xfrm>
            <a:off x="628650" y="1653038"/>
            <a:ext cx="2787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Criar uma pasta /css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criar um arquivo </a:t>
            </a:r>
            <a:r>
              <a:rPr b="1" lang="pt-BR"/>
              <a:t>primeiro-estilo.css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salvar o conteúdo do estilo do slide anterior</a:t>
            </a:r>
            <a:endParaRPr/>
          </a:p>
        </p:txBody>
      </p:sp>
      <p:sp>
        <p:nvSpPr>
          <p:cNvPr id="518" name="Google Shape;518;p8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9" name="Google Shape;519;p8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20" name="Google Shape;520;p82"/>
          <p:cNvSpPr txBox="1"/>
          <p:nvPr/>
        </p:nvSpPr>
        <p:spPr>
          <a:xfrm>
            <a:off x="3476906" y="0"/>
            <a:ext cx="56670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	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8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8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48px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8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pt-BR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8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#0000ff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i="0" lang="pt-BR" sz="1800" u="none" cap="none" strike="noStrike">
                <a:solidFill>
                  <a:srgbClr val="347C36"/>
                </a:solidFill>
                <a:latin typeface="Courier New"/>
                <a:ea typeface="Courier New"/>
                <a:cs typeface="Courier New"/>
                <a:sym typeface="Courier New"/>
              </a:rPr>
              <a:t>300px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Externo</a:t>
            </a:r>
            <a:endParaRPr/>
          </a:p>
        </p:txBody>
      </p:sp>
      <p:sp>
        <p:nvSpPr>
          <p:cNvPr id="527" name="Google Shape;527;p83"/>
          <p:cNvSpPr txBox="1"/>
          <p:nvPr>
            <p:ph idx="1" type="body"/>
          </p:nvPr>
        </p:nvSpPr>
        <p:spPr>
          <a:xfrm>
            <a:off x="628650" y="1653038"/>
            <a:ext cx="2787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Colocar o css dentro do HTML por link de estilo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&lt;link&gt;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rel ⇒ relationship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href ⇒ caminho para o css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Criar o arquivo HTML ao lado (</a:t>
            </a:r>
            <a:r>
              <a:rPr b="1" lang="pt-BR"/>
              <a:t>css1.html</a:t>
            </a:r>
            <a:r>
              <a:rPr lang="pt-BR"/>
              <a:t>)</a:t>
            </a:r>
            <a:endParaRPr/>
          </a:p>
        </p:txBody>
      </p:sp>
      <p:sp>
        <p:nvSpPr>
          <p:cNvPr id="528" name="Google Shape;528;p8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9" name="Google Shape;529;p8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30" name="Google Shape;530;p83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&lt;title&gt;Primeiro CSS &lt;/title&gt;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&lt;link rel="stylesheet" href="css/primeiro-estilo.css"&gt;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parágrafo!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parágrafo!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Externo</a:t>
            </a:r>
            <a:endParaRPr/>
          </a:p>
        </p:txBody>
      </p:sp>
      <p:sp>
        <p:nvSpPr>
          <p:cNvPr id="537" name="Google Shape;537;p84"/>
          <p:cNvSpPr txBox="1"/>
          <p:nvPr>
            <p:ph idx="1" type="body"/>
          </p:nvPr>
        </p:nvSpPr>
        <p:spPr>
          <a:xfrm>
            <a:off x="628650" y="1653038"/>
            <a:ext cx="2787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Criar um arquivo novo html (</a:t>
            </a:r>
            <a:r>
              <a:rPr b="1" lang="pt-BR"/>
              <a:t>css1.html</a:t>
            </a:r>
            <a:r>
              <a:rPr lang="pt-BR"/>
              <a:t>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Copiar o conteúdo do arquivo HTML (</a:t>
            </a:r>
            <a:r>
              <a:rPr b="1" lang="pt-BR"/>
              <a:t>css2.html</a:t>
            </a:r>
            <a:r>
              <a:rPr lang="pt-BR"/>
              <a:t>)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Abram os dois arquivos html...</a:t>
            </a:r>
            <a:endParaRPr/>
          </a:p>
        </p:txBody>
      </p:sp>
      <p:sp>
        <p:nvSpPr>
          <p:cNvPr id="538" name="Google Shape;538;p8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9" name="Google Shape;539;p8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40" name="Google Shape;540;p84"/>
          <p:cNvSpPr txBox="1"/>
          <p:nvPr/>
        </p:nvSpPr>
        <p:spPr>
          <a:xfrm>
            <a:off x="3354450" y="0"/>
            <a:ext cx="5789400" cy="471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&lt;title&gt;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Segundo CSS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&lt;/title&gt;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&lt;link rel="stylesheet" href="css/primeiro-estilo.css"&gt;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&lt;/head&gt;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&lt;body&gt;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&lt;p&gt; Este é um parágrafo do segundo CSS!&lt;/p&gt;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Este é o segundo parágrafo do segundo CSS! &lt;/p&gt;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129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547" name="Google Shape;547;p8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48" name="Google Shape;548;p8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555" name="Google Shape;555;p86"/>
          <p:cNvSpPr txBox="1"/>
          <p:nvPr>
            <p:ph idx="1" type="body"/>
          </p:nvPr>
        </p:nvSpPr>
        <p:spPr>
          <a:xfrm>
            <a:off x="628650" y="1653038"/>
            <a:ext cx="5180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Para começar a aula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um documento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um documento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Criem o link (&lt;link … &gt; ) </a:t>
            </a:r>
            <a:endParaRPr/>
          </a:p>
        </p:txBody>
      </p:sp>
      <p:sp>
        <p:nvSpPr>
          <p:cNvPr id="556" name="Google Shape;556;p8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7" name="Google Shape;557;p8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564" name="Google Shape;564;p87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Eu tenho um texto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Quero aplicar um estilo só no primeiro parágrafo…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Deixar só o primeiro parágrafo em itálico…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Como que eu faço isso?</a:t>
            </a:r>
            <a:endParaRPr/>
          </a:p>
        </p:txBody>
      </p:sp>
      <p:sp>
        <p:nvSpPr>
          <p:cNvPr id="565" name="Google Shape;565;p8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6" name="Google Shape;566;p8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67" name="Google Shape;567;p87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&lt;p&gt;Primeiro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&lt;p&gt;Segundo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574" name="Google Shape;574;p88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 eu colocar esse estilo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Fica certo?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Fica só o primeiro parágrafo com estilo?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75" name="Google Shape;575;p8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6" name="Google Shape;576;p8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77" name="Google Shape;577;p88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584" name="Google Shape;584;p89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Escolher um elemento específico para aplicar o estilo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Primeira passo é identificar esse elemento no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Como que eu faço isso?</a:t>
            </a:r>
            <a:endParaRPr b="1"/>
          </a:p>
        </p:txBody>
      </p:sp>
      <p:sp>
        <p:nvSpPr>
          <p:cNvPr id="585" name="Google Shape;585;p8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6" name="Google Shape;586;p8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87" name="Google Shape;587;p89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&lt;p&gt;Primeiro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&lt;p&gt;Segundo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Atributo id</a:t>
            </a:r>
            <a:endParaRPr/>
          </a:p>
        </p:txBody>
      </p:sp>
      <p:sp>
        <p:nvSpPr>
          <p:cNvPr id="594" name="Google Shape;594;p90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Colocar um </a:t>
            </a:r>
            <a:r>
              <a:rPr b="1" lang="pt-BR"/>
              <a:t>id </a:t>
            </a:r>
            <a:r>
              <a:rPr lang="pt-BR"/>
              <a:t>no marcador html que queremos aplicar o estilo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id = "nomeDoElemento"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No caso do exemplo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Vamos colocar o id no parágrafo que queremos</a:t>
            </a:r>
            <a:endParaRPr/>
          </a:p>
        </p:txBody>
      </p:sp>
      <p:sp>
        <p:nvSpPr>
          <p:cNvPr id="595" name="Google Shape;595;p9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6" name="Google Shape;596;p9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97" name="Google Shape;597;p90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id="primeiroParagrafo"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Primeiro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&lt;p&gt;Segundo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04" name="Google Shape;604;p91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Segundo passo é colocar o estilo para o id no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Como que faz isso?</a:t>
            </a:r>
            <a:endParaRPr/>
          </a:p>
        </p:txBody>
      </p:sp>
      <p:sp>
        <p:nvSpPr>
          <p:cNvPr id="605" name="Google Shape;605;p9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6" name="Google Shape;606;p9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07" name="Google Shape;607;p91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9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14" name="Google Shape;614;p92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Ao invés de colocar o marcador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Colocar o próprio </a:t>
            </a:r>
            <a:r>
              <a:rPr b="1" lang="pt-BR"/>
              <a:t>id </a:t>
            </a:r>
            <a:r>
              <a:rPr lang="pt-BR"/>
              <a:t>do marcador, mas com </a:t>
            </a:r>
            <a:r>
              <a:rPr b="1" lang="pt-BR"/>
              <a:t>#</a:t>
            </a:r>
            <a:r>
              <a:rPr lang="pt-BR"/>
              <a:t> na frente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#idNoHtml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No nosso exemplo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#primeiroParagrafo</a:t>
            </a:r>
            <a:endParaRPr/>
          </a:p>
        </p:txBody>
      </p:sp>
      <p:sp>
        <p:nvSpPr>
          <p:cNvPr id="615" name="Google Shape;615;p9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6" name="Google Shape;616;p9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17" name="Google Shape;617;p92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3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24" name="Google Shape;624;p93"/>
          <p:cNvSpPr txBox="1"/>
          <p:nvPr>
            <p:ph idx="1" type="body"/>
          </p:nvPr>
        </p:nvSpPr>
        <p:spPr>
          <a:xfrm>
            <a:off x="628650" y="938231"/>
            <a:ext cx="39750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Então…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Para colocar um estilo usando ids é preciso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1) Definir o estilo no css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Utilizando # 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Escolher o nome do id a ser utilizado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Escrever o estilo dentro do {}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2) Colocar o id no marcador html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➤"/>
            </a:pPr>
            <a:r>
              <a:rPr lang="pt-BR"/>
              <a:t>id="nomeDoId"</a:t>
            </a:r>
            <a:endParaRPr/>
          </a:p>
        </p:txBody>
      </p:sp>
      <p:sp>
        <p:nvSpPr>
          <p:cNvPr id="625" name="Google Shape;625;p9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6" name="Google Shape;626;p93"/>
          <p:cNvSpPr txBox="1"/>
          <p:nvPr/>
        </p:nvSpPr>
        <p:spPr>
          <a:xfrm>
            <a:off x="4603744" y="0"/>
            <a:ext cx="45402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9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33" name="Google Shape;633;p94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Da para colocar vários ids no css e no html?</a:t>
            </a:r>
            <a:endParaRPr/>
          </a:p>
        </p:txBody>
      </p:sp>
      <p:sp>
        <p:nvSpPr>
          <p:cNvPr id="634" name="Google Shape;634;p9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5" name="Google Shape;635;p9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36" name="Google Shape;636;p94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43" name="Google Shape;643;p95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 para colocar vários ids no css e no html?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</a:t>
            </a:r>
            <a:r>
              <a:rPr lang="pt-BR"/>
              <a:t>á!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Copiem os estilos e façam os estilos funcionarem no html de você</a:t>
            </a:r>
            <a:endParaRPr b="1"/>
          </a:p>
        </p:txBody>
      </p:sp>
      <p:sp>
        <p:nvSpPr>
          <p:cNvPr id="644" name="Google Shape;644;p9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5" name="Google Shape;645;p9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46" name="Google Shape;646;p95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53" name="Google Shape;653;p96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Se eu quiser agora colocar a mesma fonte para todos os parágrafos…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Como eu faço?</a:t>
            </a:r>
            <a:endParaRPr b="1"/>
          </a:p>
        </p:txBody>
      </p:sp>
      <p:sp>
        <p:nvSpPr>
          <p:cNvPr id="654" name="Google Shape;654;p9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5" name="Google Shape;655;p9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56" name="Google Shape;656;p96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63" name="Google Shape;663;p97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Agora cada parágrafo tem um estilo diferente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O que acontece se eu colocar esse estilo no marcador p?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sem nenhum id selecionado...</a:t>
            </a:r>
            <a:endParaRPr b="1"/>
          </a:p>
        </p:txBody>
      </p:sp>
      <p:sp>
        <p:nvSpPr>
          <p:cNvPr id="664" name="Google Shape;664;p9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5" name="Google Shape;665;p9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66" name="Google Shape;666;p97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73" name="Google Shape;673;p98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Dessa forma todos os parágrafos vão ter a fonte Helvetica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E também vão ter o estilo específico do id deles</a:t>
            </a:r>
            <a:endParaRPr/>
          </a:p>
        </p:txBody>
      </p:sp>
      <p:sp>
        <p:nvSpPr>
          <p:cNvPr id="674" name="Google Shape;674;p9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5" name="Google Shape;675;p9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76" name="Google Shape;676;p98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83" name="Google Shape;683;p99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 se eu resolver colocar uma outra fonte em um dos estilo com id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fonte que fica?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Testem aí...</a:t>
            </a:r>
            <a:endParaRPr/>
          </a:p>
        </p:txBody>
      </p:sp>
      <p:sp>
        <p:nvSpPr>
          <p:cNvPr id="684" name="Google Shape;684;p9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5" name="Google Shape;685;p9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86" name="Google Shape;686;p99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font-family: Times;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693" name="Google Shape;693;p100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 se eu resolver colocar uma outra fonte em SOMENTE UM dos parágrafos com id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Como que eu faço?</a:t>
            </a:r>
            <a:endParaRPr/>
          </a:p>
        </p:txBody>
      </p:sp>
      <p:sp>
        <p:nvSpPr>
          <p:cNvPr id="694" name="Google Shape;694;p10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5" name="Google Shape;695;p10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96" name="Google Shape;696;p100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id</a:t>
            </a:r>
            <a:endParaRPr/>
          </a:p>
        </p:txBody>
      </p:sp>
      <p:sp>
        <p:nvSpPr>
          <p:cNvPr id="703" name="Google Shape;703;p101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De novo…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O estilo mais específico que prevalece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prioridade </a:t>
            </a:r>
            <a:r>
              <a:rPr lang="pt-BR"/>
              <a:t>é: </a:t>
            </a:r>
            <a:endParaRPr/>
          </a:p>
          <a:p>
            <a:pPr indent="-234950" lvl="2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Inline &gt; ID &gt; Classe &gt; Tag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id é mais específico do que marcador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Logo, ficamos com o font-family do id</a:t>
            </a:r>
            <a:endParaRPr b="1"/>
          </a:p>
        </p:txBody>
      </p:sp>
      <p:sp>
        <p:nvSpPr>
          <p:cNvPr id="704" name="Google Shape;704;p10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5" name="Google Shape;705;p10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06" name="Google Shape;706;p101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font-family: Times;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13" name="Google Shape;713;p102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Quero aplicar um estilo no h1 e no primeiro parágrafo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fazer?</a:t>
            </a:r>
            <a:endParaRPr/>
          </a:p>
        </p:txBody>
      </p:sp>
      <p:sp>
        <p:nvSpPr>
          <p:cNvPr id="714" name="Google Shape;714;p10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5" name="Google Shape;715;p10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16" name="Google Shape;716;p102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Título bonito &lt;/h1&gt;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id="primeiroParagrafo"&gt; Primeiro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id="segundoParagrafo"&gt; Segundo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id="terceiroParagrafo"&gt; 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23" name="Google Shape;723;p103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Colocar os elementos a serem selecionados entre vírgulas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elemento,elemento,...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pode ter quantos quiser na sequência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Ou seja, ele concatena seletores e o estilo é aplicado em todos os selecionados</a:t>
            </a:r>
            <a:endParaRPr/>
          </a:p>
        </p:txBody>
      </p:sp>
      <p:sp>
        <p:nvSpPr>
          <p:cNvPr id="724" name="Google Shape;724;p10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5" name="Google Shape;725;p10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26" name="Google Shape;726;p103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h1,#primeiroParagrafo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33" name="Google Shape;733;p104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O que seleciona o seletor abaixo?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h1,h2,#primeiroParagrafo, span,div</a:t>
            </a:r>
            <a:endParaRPr b="1"/>
          </a:p>
        </p:txBody>
      </p:sp>
      <p:sp>
        <p:nvSpPr>
          <p:cNvPr id="734" name="Google Shape;734;p10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5" name="Google Shape;735;p10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36" name="Google Shape;736;p104"/>
          <p:cNvSpPr txBox="1"/>
          <p:nvPr/>
        </p:nvSpPr>
        <p:spPr>
          <a:xfrm>
            <a:off x="4262531" y="0"/>
            <a:ext cx="48813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h1,#primeiroParagrafo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0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43" name="Google Shape;743;p105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Alterem o HTML de vocês</a:t>
            </a:r>
            <a:endParaRPr/>
          </a:p>
        </p:txBody>
      </p:sp>
      <p:sp>
        <p:nvSpPr>
          <p:cNvPr id="744" name="Google Shape;744;p10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5" name="Google Shape;745;p10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46" name="Google Shape;746;p105"/>
          <p:cNvSpPr txBox="1"/>
          <p:nvPr/>
        </p:nvSpPr>
        <p:spPr>
          <a:xfrm>
            <a:off x="4262531" y="0"/>
            <a:ext cx="4881300" cy="44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Título bonito 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id="primeiroParagrafo"&gt; Primeiro parágrafo tem uma parte em &lt;span&gt; destaque &lt;/span&gt;.&lt;/p&gt; 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id="segundoParagrafo"&gt; Segundo parágrafo &lt;span&gt; texto aleatório&lt;/span&gt;.&lt;/p&gt; 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id="terceiroParagrafo"&gt; 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53" name="Google Shape;753;p106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Como que fazemos para aplicar um estilo somente ao span do primeiro parágrafo?</a:t>
            </a:r>
            <a:endParaRPr b="1"/>
          </a:p>
        </p:txBody>
      </p:sp>
      <p:sp>
        <p:nvSpPr>
          <p:cNvPr id="754" name="Google Shape;754;p10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5" name="Google Shape;755;p10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56" name="Google Shape;756;p106"/>
          <p:cNvSpPr txBox="1"/>
          <p:nvPr/>
        </p:nvSpPr>
        <p:spPr>
          <a:xfrm>
            <a:off x="4262531" y="0"/>
            <a:ext cx="4881300" cy="44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Título bonito &lt;/h1&gt;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id="primeiroParagrafo"&gt; Primeiro parágrafo tem uma parte em &lt;span&gt; destaque &lt;/span&gt;.&lt;/p&gt; 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id="segundoParagrafo"&gt; Segundo parágrafo &lt;span&gt; texto aleatório&lt;/span&gt;.&lt;/p&gt; 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 id="terceiroParagrafo"&gt; Terceiro parágrafo.&lt;/p&gt; 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0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63" name="Google Shape;763;p107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Selecionar com base na hierarquia do documento 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#primeiroParagrafo span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seleciona todos os spans dentro do #primeiroParagrafo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Coloquem outro span dentro do #primeiroParagrafo</a:t>
            </a:r>
            <a:endParaRPr b="1"/>
          </a:p>
        </p:txBody>
      </p:sp>
      <p:sp>
        <p:nvSpPr>
          <p:cNvPr id="764" name="Google Shape;764;p10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65" name="Google Shape;765;p10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66" name="Google Shape;766;p107"/>
          <p:cNvSpPr txBox="1"/>
          <p:nvPr/>
        </p:nvSpPr>
        <p:spPr>
          <a:xfrm>
            <a:off x="4262531" y="0"/>
            <a:ext cx="4881300" cy="476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span {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text-transform: uppercase;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</a:t>
            </a:r>
            <a:r>
              <a:rPr b="1" lang="pt-BR"/>
              <a:t>á</a:t>
            </a:r>
            <a:r>
              <a:rPr b="1" lang="pt-BR"/>
              <a:t> para colocar vários termos da hierarquia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div p span a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Vai selecionar o que?</a:t>
            </a:r>
            <a:endParaRPr b="1"/>
          </a:p>
        </p:txBody>
      </p:sp>
      <p:sp>
        <p:nvSpPr>
          <p:cNvPr id="774" name="Google Shape;774;p10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5" name="Google Shape;775;p10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76" name="Google Shape;776;p108"/>
          <p:cNvSpPr txBox="1"/>
          <p:nvPr/>
        </p:nvSpPr>
        <p:spPr>
          <a:xfrm>
            <a:off x="4262531" y="0"/>
            <a:ext cx="4881300" cy="476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span {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text-transform: uppercase;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0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Seletores</a:t>
            </a:r>
            <a:endParaRPr/>
          </a:p>
        </p:txBody>
      </p:sp>
      <p:sp>
        <p:nvSpPr>
          <p:cNvPr id="783" name="Google Shape;783;p109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b="1" lang="pt-BR"/>
              <a:t>D</a:t>
            </a:r>
            <a:r>
              <a:rPr b="1" lang="pt-BR"/>
              <a:t>á</a:t>
            </a:r>
            <a:r>
              <a:rPr b="1" lang="pt-BR"/>
              <a:t> para usar tanto ids quanto marcadores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seletores selecionam os elementos do HTML!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São formas de escolher o que vamos aplicar o estilo que tá dentro daquele seletor</a:t>
            </a:r>
            <a:endParaRPr/>
          </a:p>
        </p:txBody>
      </p:sp>
      <p:sp>
        <p:nvSpPr>
          <p:cNvPr id="784" name="Google Shape;784;p10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5" name="Google Shape;785;p10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86" name="Google Shape;786;p109"/>
          <p:cNvSpPr txBox="1"/>
          <p:nvPr/>
        </p:nvSpPr>
        <p:spPr>
          <a:xfrm>
            <a:off x="4262531" y="0"/>
            <a:ext cx="4881300" cy="476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font-family: Helvetica;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font-style: italic;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#primeiroParagrafo span {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text-transform: uppercase;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#segundoParagrafo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font-weight: bold;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#terceiroParagrafo {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font-size: 32px;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Seletor de classe</a:t>
            </a:r>
            <a:endParaRPr/>
          </a:p>
        </p:txBody>
      </p:sp>
      <p:sp>
        <p:nvSpPr>
          <p:cNvPr id="793" name="Google Shape;793;p11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94" name="Google Shape;794;p11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1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classe</a:t>
            </a:r>
            <a:endParaRPr/>
          </a:p>
        </p:txBody>
      </p:sp>
      <p:sp>
        <p:nvSpPr>
          <p:cNvPr id="801" name="Google Shape;801;p111"/>
          <p:cNvSpPr txBox="1"/>
          <p:nvPr>
            <p:ph idx="1" type="body"/>
          </p:nvPr>
        </p:nvSpPr>
        <p:spPr>
          <a:xfrm>
            <a:off x="628650" y="1653038"/>
            <a:ext cx="3633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Cirem tudo novo (ou limpem os anteriores)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um documento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um documento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Criem o link (&lt;link … &gt; ) </a:t>
            </a:r>
            <a:endParaRPr b="1"/>
          </a:p>
        </p:txBody>
      </p:sp>
      <p:sp>
        <p:nvSpPr>
          <p:cNvPr id="802" name="Google Shape;802;p11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3" name="Google Shape;803;p11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1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810" name="Google Shape;810;p112"/>
          <p:cNvSpPr txBox="1"/>
          <p:nvPr>
            <p:ph idx="1" type="body"/>
          </p:nvPr>
        </p:nvSpPr>
        <p:spPr>
          <a:xfrm>
            <a:off x="628650" y="1653038"/>
            <a:ext cx="21090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Coloquem o código no arquivo HTML de vocês </a:t>
            </a:r>
            <a:endParaRPr b="1"/>
          </a:p>
        </p:txBody>
      </p:sp>
      <p:sp>
        <p:nvSpPr>
          <p:cNvPr id="811" name="Google Shape;811;p11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2" name="Google Shape;812;p11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13" name="Google Shape;813;p112"/>
          <p:cNvSpPr txBox="1"/>
          <p:nvPr/>
        </p:nvSpPr>
        <p:spPr>
          <a:xfrm>
            <a:off x="2737781" y="0"/>
            <a:ext cx="6405900" cy="489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&lt;p&gt;Error 01: Código não compilou na linha 10.&lt;/p&gt;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&lt;p&gt;Warning 01: Código duplicado nas linhas 5-8 e 13-16.&lt;/p&gt;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&lt;p&gt;Error 02: Tipos não compatíveis na linha 3.&lt;/p&gt;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&lt;p&gt;Error 03: Tipo não definido.&lt;/p&gt;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&lt;p&gt;Success 01: Compilado com sucesso.&lt;/p&gt;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&lt;p&gt;Warning 02: Código nunca utilizado nas linhas 20-30.&lt;/p&gt;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&lt;p&gt;Success 02: Compilado com sucesso.&lt;/p&gt;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1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820" name="Google Shape;820;p113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temos de alterar para que fique assim?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Façam aí um estilo de cada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Error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Success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Warning</a:t>
            </a:r>
            <a:endParaRPr/>
          </a:p>
        </p:txBody>
      </p:sp>
      <p:sp>
        <p:nvSpPr>
          <p:cNvPr id="821" name="Google Shape;821;p11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22" name="Google Shape;822;p11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823" name="Google Shape;823;p113"/>
          <p:cNvPicPr preferRelativeResize="0"/>
          <p:nvPr/>
        </p:nvPicPr>
        <p:blipFill rotWithShape="1">
          <a:blip r:embed="rId3">
            <a:alphaModFix/>
          </a:blip>
          <a:srcRect b="35959" l="0" r="54961" t="7448"/>
          <a:stretch/>
        </p:blipFill>
        <p:spPr>
          <a:xfrm>
            <a:off x="3324169" y="982613"/>
            <a:ext cx="5829040" cy="309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1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830" name="Google Shape;830;p114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temos de alterar para que fique assim?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Dá para fazer usando id? </a:t>
            </a:r>
            <a:endParaRPr/>
          </a:p>
        </p:txBody>
      </p:sp>
      <p:sp>
        <p:nvSpPr>
          <p:cNvPr id="831" name="Google Shape;831;p11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2" name="Google Shape;832;p11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833" name="Google Shape;833;p114"/>
          <p:cNvPicPr preferRelativeResize="0"/>
          <p:nvPr/>
        </p:nvPicPr>
        <p:blipFill rotWithShape="1">
          <a:blip r:embed="rId3">
            <a:alphaModFix/>
          </a:blip>
          <a:srcRect b="35959" l="0" r="54961" t="7448"/>
          <a:stretch/>
        </p:blipFill>
        <p:spPr>
          <a:xfrm>
            <a:off x="3324169" y="982613"/>
            <a:ext cx="5829040" cy="309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840" name="Google Shape;840;p115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O que temos de alterar para que fique assim?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Dá para fazer usando id?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Da…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Só vai dar um certo trabalho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b="1" lang="pt-BR"/>
              <a:t>Qual o problema de usar ids aqui?</a:t>
            </a:r>
            <a:endParaRPr/>
          </a:p>
        </p:txBody>
      </p:sp>
      <p:sp>
        <p:nvSpPr>
          <p:cNvPr id="841" name="Google Shape;841;p11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2" name="Google Shape;842;p11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843" name="Google Shape;843;p115"/>
          <p:cNvPicPr preferRelativeResize="0"/>
          <p:nvPr/>
        </p:nvPicPr>
        <p:blipFill rotWithShape="1">
          <a:blip r:embed="rId3">
            <a:alphaModFix/>
          </a:blip>
          <a:srcRect b="35959" l="0" r="54961" t="7448"/>
          <a:stretch/>
        </p:blipFill>
        <p:spPr>
          <a:xfrm>
            <a:off x="3324169" y="982613"/>
            <a:ext cx="5829040" cy="309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850" name="Google Shape;850;p116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Alterem o código no arquivo HTML de vocês</a:t>
            </a:r>
            <a:endParaRPr/>
          </a:p>
        </p:txBody>
      </p:sp>
      <p:sp>
        <p:nvSpPr>
          <p:cNvPr id="851" name="Google Shape;851;p11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2" name="Google Shape;852;p11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53" name="Google Shape;853;p116"/>
          <p:cNvSpPr txBox="1"/>
          <p:nvPr/>
        </p:nvSpPr>
        <p:spPr>
          <a:xfrm>
            <a:off x="3225694" y="0"/>
            <a:ext cx="59181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class="error"&gt;Error 01:&lt;/span&gt;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Código não compilou na linha 10.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class="warning"&gt;Warning 01:&lt;/span&gt;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Código duplicado nas linhas 5-8 e 13-16.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class="error"&gt;Error 02:&lt;/span&gt;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Tipos não compatíveis na linha 3.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class="error"&gt;Error 03:&lt;/span&gt;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Tipo não definido.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class="success"&gt;Success 01:&lt;/span&gt;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Compilado com sucesso.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class="warning"&gt;Warning 02:&lt;/span&gt;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Código nunca utilizado nas linhas 20-30.&lt;/p&gt;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class="success"&gt; Success 02:&lt;/span&gt;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Compilado com sucesso. &lt;/p&gt;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1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</a:t>
            </a:r>
            <a:endParaRPr/>
          </a:p>
        </p:txBody>
      </p:sp>
      <p:sp>
        <p:nvSpPr>
          <p:cNvPr id="860" name="Google Shape;860;p117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Coloquem o código no arquivo CSS de vocês</a:t>
            </a:r>
            <a:endParaRPr/>
          </a:p>
        </p:txBody>
      </p:sp>
      <p:sp>
        <p:nvSpPr>
          <p:cNvPr id="861" name="Google Shape;861;p11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2" name="Google Shape;862;p11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63" name="Google Shape;863;p117"/>
          <p:cNvSpPr txBox="1"/>
          <p:nvPr/>
        </p:nvSpPr>
        <p:spPr>
          <a:xfrm>
            <a:off x="3225694" y="0"/>
            <a:ext cx="5918100" cy="504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body { font-family: "Courier new"; 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.error{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red;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.warning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#CCCC00;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.success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darkGreen;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683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1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</a:t>
            </a:r>
            <a:br>
              <a:rPr lang="pt-BR"/>
            </a:br>
            <a:r>
              <a:rPr lang="pt-BR"/>
              <a:t>classe</a:t>
            </a:r>
            <a:endParaRPr/>
          </a:p>
        </p:txBody>
      </p:sp>
      <p:sp>
        <p:nvSpPr>
          <p:cNvPr id="870" name="Google Shape;870;p118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valor no atributo classe do html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parecido com o id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no css é o .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seleciona todos os elementos do html que tenham aquela classe</a:t>
            </a:r>
            <a:endParaRPr/>
          </a:p>
        </p:txBody>
      </p:sp>
      <p:sp>
        <p:nvSpPr>
          <p:cNvPr id="871" name="Google Shape;871;p11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2" name="Google Shape;872;p11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73" name="Google Shape;873;p118"/>
          <p:cNvSpPr txBox="1"/>
          <p:nvPr/>
        </p:nvSpPr>
        <p:spPr>
          <a:xfrm>
            <a:off x="3225694" y="0"/>
            <a:ext cx="5918100" cy="504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body { font-family: "Courier new"; 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.error{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red;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.warning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#CCCC00;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.success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darkGreen;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683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1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Seletor de </a:t>
            </a:r>
            <a:br>
              <a:rPr lang="pt-BR"/>
            </a:br>
            <a:r>
              <a:rPr lang="pt-BR"/>
              <a:t>classe</a:t>
            </a:r>
            <a:endParaRPr/>
          </a:p>
        </p:txBody>
      </p:sp>
      <p:sp>
        <p:nvSpPr>
          <p:cNvPr id="880" name="Google Shape;880;p119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Ainda dá para melhorar um pouco mais isso aí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O que dá para fazer com esse estilo para melhorar?</a:t>
            </a:r>
            <a:endParaRPr/>
          </a:p>
        </p:txBody>
      </p:sp>
      <p:sp>
        <p:nvSpPr>
          <p:cNvPr id="881" name="Google Shape;881;p11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2" name="Google Shape;882;p11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83" name="Google Shape;883;p119"/>
          <p:cNvSpPr txBox="1"/>
          <p:nvPr/>
        </p:nvSpPr>
        <p:spPr>
          <a:xfrm>
            <a:off x="3225694" y="0"/>
            <a:ext cx="5918100" cy="504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body { font-family: "Courier new"; 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.error{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red;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.warning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#CCCC00;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.success {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darkGreen;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683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2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</a:t>
            </a:r>
            <a:endParaRPr/>
          </a:p>
        </p:txBody>
      </p:sp>
      <p:sp>
        <p:nvSpPr>
          <p:cNvPr id="890" name="Google Shape;890;p120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Coloquem o código no arquivo CSS de vocês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E o html?</a:t>
            </a:r>
            <a:endParaRPr b="1"/>
          </a:p>
        </p:txBody>
      </p:sp>
      <p:sp>
        <p:nvSpPr>
          <p:cNvPr id="891" name="Google Shape;891;p12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2" name="Google Shape;892;p12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893" name="Google Shape;893;p120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body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font-family: "Courier new";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.status{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.error{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red;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.warning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#CCCC00;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.success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darkGreen;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2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HTML</a:t>
            </a:r>
            <a:endParaRPr/>
          </a:p>
        </p:txBody>
      </p:sp>
      <p:sp>
        <p:nvSpPr>
          <p:cNvPr id="900" name="Google Shape;900;p121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Alterem o código no arquivo HTML de vocês</a:t>
            </a:r>
            <a:endParaRPr b="1"/>
          </a:p>
        </p:txBody>
      </p:sp>
      <p:sp>
        <p:nvSpPr>
          <p:cNvPr id="901" name="Google Shape;901;p12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2" name="Google Shape;902;p12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03" name="Google Shape;903;p121"/>
          <p:cNvSpPr txBox="1"/>
          <p:nvPr/>
        </p:nvSpPr>
        <p:spPr>
          <a:xfrm>
            <a:off x="3225694" y="0"/>
            <a:ext cx="59181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error"&gt;Error 01:&lt;/span&gt; Código não compilou na linha 10.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warning"&gt;Warning 01:&lt;/span&gt; Código duplicado nas linhas 5-8 e 13-16.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error"&gt;Error 02:&lt;/span&gt; Tipos não compatíveis na linha 3.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error"&gt;Error 03:&lt;/span&gt; Tipo não definido.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success"&gt;Success 01:&lt;/span&gt; Compilado com sucesso.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warning"&gt;Warning 02:&lt;/span&gt; Código nunca utilizado nas linhas 20-30.&lt;/p&gt;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success"&gt; Success 02:&lt;/span&gt; Compilado com sucesso.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2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</a:t>
            </a:r>
            <a:endParaRPr/>
          </a:p>
        </p:txBody>
      </p:sp>
      <p:sp>
        <p:nvSpPr>
          <p:cNvPr id="910" name="Google Shape;910;p122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Qual a diferença entre usar id e usar class?</a:t>
            </a:r>
            <a:endParaRPr b="1"/>
          </a:p>
        </p:txBody>
      </p:sp>
      <p:sp>
        <p:nvSpPr>
          <p:cNvPr id="911" name="Google Shape;911;p12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2" name="Google Shape;912;p12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13" name="Google Shape;913;p122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body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font-family: "Courier new";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.status{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140%;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font-weight: bold;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.error{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red;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.warning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#CCCC00;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.success {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darkGreen;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2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Id ou class?</a:t>
            </a:r>
            <a:endParaRPr/>
          </a:p>
        </p:txBody>
      </p:sp>
      <p:sp>
        <p:nvSpPr>
          <p:cNvPr id="920" name="Google Shape;920;p123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Qual a diferença entre usar id e usar class?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id é um por elemento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class a pode ter várias classes em um mesmo elemento</a:t>
            </a:r>
            <a:endParaRPr b="1"/>
          </a:p>
        </p:txBody>
      </p:sp>
      <p:sp>
        <p:nvSpPr>
          <p:cNvPr id="921" name="Google Shape;921;p12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2" name="Google Shape;922;p12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23" name="Google Shape;923;p123"/>
          <p:cNvSpPr txBox="1"/>
          <p:nvPr/>
        </p:nvSpPr>
        <p:spPr>
          <a:xfrm>
            <a:off x="3225694" y="0"/>
            <a:ext cx="59181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 error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"&gt;Error 01:&lt;/span&gt; Código não compilou na linha 10.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 warning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"&gt;Warning 01:&lt;/span&gt; Código duplicado nas linhas 5-8 e 13-16.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 error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"&gt;Error 02:&lt;/span&gt; Tipos não compatíveis na linha 3.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 error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"&gt;Error 03:&lt;/span&gt; Tipo não definido.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class="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status success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"&gt;Success 01:&lt;/span&gt; Compilado com sucesso.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 warning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"&gt;Warning 02:&lt;/span&gt; Código nunca utilizado nas linhas 20-30.&lt;/p&gt;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&lt;span class=</a:t>
            </a:r>
            <a:r>
              <a:rPr b="1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"status success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"&gt; Success 02:&lt;/span&gt; Compilado com sucesso. &lt;/p&gt;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2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Combinators</a:t>
            </a:r>
            <a:endParaRPr/>
          </a:p>
        </p:txBody>
      </p:sp>
      <p:sp>
        <p:nvSpPr>
          <p:cNvPr id="930" name="Google Shape;930;p124"/>
          <p:cNvSpPr txBox="1"/>
          <p:nvPr>
            <p:ph idx="1" type="body"/>
          </p:nvPr>
        </p:nvSpPr>
        <p:spPr>
          <a:xfrm>
            <a:off x="628650" y="1653038"/>
            <a:ext cx="4574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Alguém sabe do que se trata?</a:t>
            </a:r>
            <a:endParaRPr/>
          </a:p>
        </p:txBody>
      </p:sp>
      <p:sp>
        <p:nvSpPr>
          <p:cNvPr id="931" name="Google Shape;931;p12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2" name="Google Shape;932;p12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2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Combinators</a:t>
            </a:r>
            <a:endParaRPr/>
          </a:p>
        </p:txBody>
      </p:sp>
      <p:sp>
        <p:nvSpPr>
          <p:cNvPr id="939" name="Google Shape;939;p125"/>
          <p:cNvSpPr txBox="1"/>
          <p:nvPr>
            <p:ph idx="1" type="body"/>
          </p:nvPr>
        </p:nvSpPr>
        <p:spPr>
          <a:xfrm>
            <a:off x="628650" y="1653038"/>
            <a:ext cx="4574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Sim, existem mais seletores…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descendant  ⇒ descendente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child ⇒ filhos diretos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adjacent sibling ⇒ irmão adjacente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general sibling selector ⇒ irmão qualquer</a:t>
            </a:r>
            <a:endParaRPr/>
          </a:p>
        </p:txBody>
      </p:sp>
      <p:sp>
        <p:nvSpPr>
          <p:cNvPr id="940" name="Google Shape;940;p12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1" name="Google Shape;941;p12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2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Static</a:t>
            </a:r>
            <a:endParaRPr/>
          </a:p>
        </p:txBody>
      </p:sp>
      <p:sp>
        <p:nvSpPr>
          <p:cNvPr id="948" name="Google Shape;948;p126"/>
          <p:cNvSpPr txBox="1"/>
          <p:nvPr>
            <p:ph idx="1" type="body"/>
          </p:nvPr>
        </p:nvSpPr>
        <p:spPr>
          <a:xfrm>
            <a:off x="628650" y="1653038"/>
            <a:ext cx="318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Coloquem aí no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para que a gente consiga testar os combinators</a:t>
            </a:r>
            <a:endParaRPr/>
          </a:p>
        </p:txBody>
      </p:sp>
      <p:sp>
        <p:nvSpPr>
          <p:cNvPr id="949" name="Google Shape;949;p12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0" name="Google Shape;950;p12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51" name="Google Shape;951;p126"/>
          <p:cNvSpPr txBox="1"/>
          <p:nvPr/>
        </p:nvSpPr>
        <p:spPr>
          <a:xfrm>
            <a:off x="3810731" y="0"/>
            <a:ext cx="5333100" cy="44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&lt;p&gt;parágrafo 1 tá no div de fora.&lt;/p&gt;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&lt;p&gt;parágrafo 2 tá no div de fora&lt;/p&gt;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&lt;span&gt;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&lt;p&gt;parágrafo 3 tá no span interno.&lt;/p&gt;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&lt;/span&gt;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&lt;p&gt;parágrafo 4 não tá no div!&lt;/p&gt;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&lt;p&gt;parágrafo 5 não tá no div!&lt;/p&gt;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2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Descendant</a:t>
            </a:r>
            <a:endParaRPr/>
          </a:p>
        </p:txBody>
      </p:sp>
      <p:sp>
        <p:nvSpPr>
          <p:cNvPr id="958" name="Google Shape;958;p127"/>
          <p:cNvSpPr txBox="1"/>
          <p:nvPr>
            <p:ph idx="1" type="body"/>
          </p:nvPr>
        </p:nvSpPr>
        <p:spPr>
          <a:xfrm>
            <a:off x="628650" y="1653038"/>
            <a:ext cx="318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Descendente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 gente já viu esse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Dado um seletor ele pega todos elementos que são descendentes do elemento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Coloque no CSS</a:t>
            </a:r>
            <a:endParaRPr/>
          </a:p>
        </p:txBody>
      </p:sp>
      <p:sp>
        <p:nvSpPr>
          <p:cNvPr id="959" name="Google Shape;959;p12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60" name="Google Shape;960;p12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61" name="Google Shape;961;p127"/>
          <p:cNvSpPr txBox="1"/>
          <p:nvPr/>
        </p:nvSpPr>
        <p:spPr>
          <a:xfrm>
            <a:off x="3810731" y="0"/>
            <a:ext cx="5333100" cy="44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p {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black;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color: white;</a:t>
            </a:r>
            <a:endParaRPr b="1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2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Child</a:t>
            </a:r>
            <a:endParaRPr/>
          </a:p>
        </p:txBody>
      </p:sp>
      <p:sp>
        <p:nvSpPr>
          <p:cNvPr id="968" name="Google Shape;968;p128"/>
          <p:cNvSpPr txBox="1"/>
          <p:nvPr>
            <p:ph idx="1" type="body"/>
          </p:nvPr>
        </p:nvSpPr>
        <p:spPr>
          <a:xfrm>
            <a:off x="628650" y="1653038"/>
            <a:ext cx="318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Filhos diretos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Dado um seletor ele pega todos elementos que são descendentes diretos do elemento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Coloque no CSS</a:t>
            </a:r>
            <a:endParaRPr/>
          </a:p>
        </p:txBody>
      </p:sp>
      <p:sp>
        <p:nvSpPr>
          <p:cNvPr id="969" name="Google Shape;969;p12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0" name="Google Shape;970;p12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71" name="Google Shape;971;p128"/>
          <p:cNvSpPr txBox="1"/>
          <p:nvPr/>
        </p:nvSpPr>
        <p:spPr>
          <a:xfrm>
            <a:off x="3810731" y="0"/>
            <a:ext cx="5333100" cy="44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&gt; p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black;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color: white;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2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Adjacent Sibling</a:t>
            </a:r>
            <a:endParaRPr/>
          </a:p>
        </p:txBody>
      </p:sp>
      <p:sp>
        <p:nvSpPr>
          <p:cNvPr id="978" name="Google Shape;978;p129"/>
          <p:cNvSpPr txBox="1"/>
          <p:nvPr>
            <p:ph idx="1" type="body"/>
          </p:nvPr>
        </p:nvSpPr>
        <p:spPr>
          <a:xfrm>
            <a:off x="628650" y="1653038"/>
            <a:ext cx="318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Irmão adjacente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Pega um elemento que é diretamente adjacente ao seletor anterior</a:t>
            </a:r>
            <a:endParaRPr/>
          </a:p>
        </p:txBody>
      </p:sp>
      <p:sp>
        <p:nvSpPr>
          <p:cNvPr id="979" name="Google Shape;979;p12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0" name="Google Shape;980;p12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81" name="Google Shape;981;p129"/>
          <p:cNvSpPr txBox="1"/>
          <p:nvPr/>
        </p:nvSpPr>
        <p:spPr>
          <a:xfrm>
            <a:off x="3810731" y="0"/>
            <a:ext cx="5333100" cy="44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+ p {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black;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color: white;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3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General Siblings</a:t>
            </a:r>
            <a:endParaRPr/>
          </a:p>
        </p:txBody>
      </p:sp>
      <p:sp>
        <p:nvSpPr>
          <p:cNvPr id="988" name="Google Shape;988;p130"/>
          <p:cNvSpPr txBox="1"/>
          <p:nvPr>
            <p:ph idx="1" type="body"/>
          </p:nvPr>
        </p:nvSpPr>
        <p:spPr>
          <a:xfrm>
            <a:off x="628650" y="1653038"/>
            <a:ext cx="31821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Todos os irmãos adjacentes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Seleciona todos os irmãos que são daquele seletor</a:t>
            </a:r>
            <a:endParaRPr/>
          </a:p>
        </p:txBody>
      </p:sp>
      <p:sp>
        <p:nvSpPr>
          <p:cNvPr id="989" name="Google Shape;989;p13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0" name="Google Shape;990;p13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991" name="Google Shape;991;p130"/>
          <p:cNvSpPr txBox="1"/>
          <p:nvPr/>
        </p:nvSpPr>
        <p:spPr>
          <a:xfrm>
            <a:off x="3810731" y="0"/>
            <a:ext cx="5333100" cy="44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~ p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black;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color: white;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3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998" name="Google Shape;998;p13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99" name="Google Shape;999;p13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3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Externo</a:t>
            </a:r>
            <a:endParaRPr/>
          </a:p>
        </p:txBody>
      </p:sp>
      <p:sp>
        <p:nvSpPr>
          <p:cNvPr id="1006" name="Google Shape;1006;p132"/>
          <p:cNvSpPr txBox="1"/>
          <p:nvPr>
            <p:ph idx="1" type="body"/>
          </p:nvPr>
        </p:nvSpPr>
        <p:spPr>
          <a:xfrm>
            <a:off x="628650" y="1653038"/>
            <a:ext cx="3491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Alterar as cores do nosso site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Aula passada vimos que é possível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Em algumas aulas de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vimos que existe a forma de definir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alguém lembra?</a:t>
            </a:r>
            <a:endParaRPr/>
          </a:p>
        </p:txBody>
      </p:sp>
      <p:sp>
        <p:nvSpPr>
          <p:cNvPr id="1007" name="Google Shape;1007;p13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8" name="Google Shape;1008;p13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3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CSS Externo</a:t>
            </a:r>
            <a:endParaRPr/>
          </a:p>
        </p:txBody>
      </p:sp>
      <p:sp>
        <p:nvSpPr>
          <p:cNvPr id="1015" name="Google Shape;1015;p133"/>
          <p:cNvSpPr txBox="1"/>
          <p:nvPr>
            <p:ph idx="1" type="body"/>
          </p:nvPr>
        </p:nvSpPr>
        <p:spPr>
          <a:xfrm>
            <a:off x="628650" y="1653038"/>
            <a:ext cx="3491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Alterar as cores do nosso site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Aula passada vimos que é possível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Em algumas aulas de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vimos que existe a forma de definir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alguém lembra?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6 dígitos hexadecimais (#ffffff)</a:t>
            </a:r>
            <a:endParaRPr/>
          </a:p>
        </p:txBody>
      </p:sp>
      <p:sp>
        <p:nvSpPr>
          <p:cNvPr id="1016" name="Google Shape;1016;p13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7" name="Google Shape;1017;p13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018" name="Google Shape;1018;p133"/>
          <p:cNvPicPr preferRelativeResize="0"/>
          <p:nvPr/>
        </p:nvPicPr>
        <p:blipFill rotWithShape="1">
          <a:blip r:embed="rId3">
            <a:alphaModFix/>
          </a:blip>
          <a:srcRect b="0" l="25345" r="32187" t="16771"/>
          <a:stretch/>
        </p:blipFill>
        <p:spPr>
          <a:xfrm>
            <a:off x="4120219" y="792881"/>
            <a:ext cx="5023780" cy="4154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3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Valores de Cores</a:t>
            </a:r>
            <a:endParaRPr/>
          </a:p>
        </p:txBody>
      </p:sp>
      <p:sp>
        <p:nvSpPr>
          <p:cNvPr id="1025" name="Google Shape;1025;p134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Existem várias formas de definir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Hexadecimal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Nome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RGB(A)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HSL(A)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Cada um deles produz as mesmas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Só que de formas diferentes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Os (A) no final são com transparências</a:t>
            </a:r>
            <a:endParaRPr/>
          </a:p>
        </p:txBody>
      </p:sp>
      <p:sp>
        <p:nvSpPr>
          <p:cNvPr id="1026" name="Google Shape;1026;p13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7" name="Google Shape;1027;p13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3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Valores de Cores</a:t>
            </a:r>
            <a:endParaRPr/>
          </a:p>
        </p:txBody>
      </p:sp>
      <p:sp>
        <p:nvSpPr>
          <p:cNvPr id="1034" name="Google Shape;1034;p135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Composto por # e mais 6 dígitos hexadecimais (0-f)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16^6 = 16.777.216 de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Cada par de dígitos é uma cor do RGB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na ordem do RGB, ou seja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000"/>
              <a:buChar char="➤"/>
            </a:pPr>
            <a:r>
              <a:rPr b="1" lang="pt-BR">
                <a:solidFill>
                  <a:srgbClr val="FF0000"/>
                </a:solidFill>
              </a:rPr>
              <a:t>#ff0000 é vermelho (red)</a:t>
            </a:r>
            <a:endParaRPr b="1">
              <a:solidFill>
                <a:srgbClr val="FF0000"/>
              </a:solidFill>
            </a:endParaRPr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F00"/>
              </a:buClr>
              <a:buSzPts val="1000"/>
              <a:buChar char="➤"/>
            </a:pPr>
            <a:r>
              <a:rPr b="1" lang="pt-BR">
                <a:solidFill>
                  <a:srgbClr val="00FF00"/>
                </a:solidFill>
              </a:rPr>
              <a:t>#00ff00 é verde (green)</a:t>
            </a:r>
            <a:endParaRPr b="1">
              <a:solidFill>
                <a:srgbClr val="00FF00"/>
              </a:solidFill>
            </a:endParaRPr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0000FF"/>
              </a:buClr>
              <a:buSzPts val="1000"/>
              <a:buChar char="➤"/>
            </a:pPr>
            <a:r>
              <a:rPr b="1" lang="pt-BR">
                <a:solidFill>
                  <a:srgbClr val="0000FF"/>
                </a:solidFill>
              </a:rPr>
              <a:t>#0000ff é azul (blue)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35" name="Google Shape;1035;p13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6" name="Google Shape;1036;p13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36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Cores Nomes</a:t>
            </a:r>
            <a:endParaRPr/>
          </a:p>
        </p:txBody>
      </p:sp>
      <p:sp>
        <p:nvSpPr>
          <p:cNvPr id="1043" name="Google Shape;1043;p136"/>
          <p:cNvSpPr txBox="1"/>
          <p:nvPr>
            <p:ph idx="1" type="body"/>
          </p:nvPr>
        </p:nvSpPr>
        <p:spPr>
          <a:xfrm>
            <a:off x="628650" y="938231"/>
            <a:ext cx="3491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Nomes em Inglês de algumas cores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140 cores, o nome da cor mesmo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blue, red, green, ...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variações (nem todas cores tem)</a:t>
            </a:r>
            <a:endParaRPr/>
          </a:p>
          <a:p>
            <a:pPr indent="-247650" lvl="1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dark, light, medium, pale, …</a:t>
            </a:r>
            <a:endParaRPr/>
          </a:p>
          <a:p>
            <a:pPr indent="-247650" lvl="1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darkblue</a:t>
            </a:r>
            <a:endParaRPr/>
          </a:p>
          <a:p>
            <a:pPr indent="-247650" lvl="1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lightblue</a:t>
            </a:r>
            <a:endParaRPr/>
          </a:p>
          <a:p>
            <a:pPr indent="-247650" lvl="1" marL="1028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mediumblue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44" name="Google Shape;1044;p13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45" name="Google Shape;1045;p136"/>
          <p:cNvPicPr preferRelativeResize="0"/>
          <p:nvPr/>
        </p:nvPicPr>
        <p:blipFill rotWithShape="1">
          <a:blip r:embed="rId3">
            <a:alphaModFix/>
          </a:blip>
          <a:srcRect b="0" l="25345" r="32187" t="16771"/>
          <a:stretch/>
        </p:blipFill>
        <p:spPr>
          <a:xfrm>
            <a:off x="4120219" y="792881"/>
            <a:ext cx="5023780" cy="4154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3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Cores nomes</a:t>
            </a:r>
            <a:endParaRPr/>
          </a:p>
        </p:txBody>
      </p:sp>
      <p:sp>
        <p:nvSpPr>
          <p:cNvPr id="1052" name="Google Shape;1052;p137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Criem uma página html de exemplo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Com marcadores h1, h2, h3 e h4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Criem o arquivo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Coloquem o arquivo css no html externamente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lang="pt-BR"/>
              <a:t>Coloquem no css o exemplo para ver</a:t>
            </a:r>
            <a:endParaRPr/>
          </a:p>
        </p:txBody>
      </p:sp>
      <p:sp>
        <p:nvSpPr>
          <p:cNvPr id="1053" name="Google Shape;1053;p13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4" name="Google Shape;1054;p13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55" name="Google Shape;1055;p137"/>
          <p:cNvSpPr txBox="1"/>
          <p:nvPr/>
        </p:nvSpPr>
        <p:spPr>
          <a:xfrm>
            <a:off x="4847400" y="0"/>
            <a:ext cx="42966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{color: 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h2 {color: lightblue;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h3 {color: mediumblue;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h4 {color: darkblue;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3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Cores RGB e HSL</a:t>
            </a:r>
            <a:endParaRPr/>
          </a:p>
        </p:txBody>
      </p:sp>
      <p:sp>
        <p:nvSpPr>
          <p:cNvPr id="1062" name="Google Shape;1062;p138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RGB é o hexadecimal disfarçado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função rgb(int,int,int)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cada int vai de 0-255 (00-ff)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rgb(255,0,0) ⇒ red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HSL é diferentão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função hsl(int, %,%)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int = matiz ~ cor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% = saturação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% = brilho</a:t>
            </a:r>
            <a:endParaRPr/>
          </a:p>
        </p:txBody>
      </p:sp>
      <p:sp>
        <p:nvSpPr>
          <p:cNvPr id="1063" name="Google Shape;1063;p13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4" name="Google Shape;1064;p13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65" name="Google Shape;1065;p138"/>
          <p:cNvSpPr txBox="1"/>
          <p:nvPr/>
        </p:nvSpPr>
        <p:spPr>
          <a:xfrm>
            <a:off x="4847400" y="0"/>
            <a:ext cx="42966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{color: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hsl(240, 100%, 50%)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h2 {color: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rgb(0,0,255)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h3 {color: mediumblue;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h4 {color: darkblue;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3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Cores RGB e HSL</a:t>
            </a:r>
            <a:endParaRPr/>
          </a:p>
        </p:txBody>
      </p:sp>
      <p:sp>
        <p:nvSpPr>
          <p:cNvPr id="1072" name="Google Shape;1072;p139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RGBA e HSL são os mesmo rgb e hsl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só que com alpha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função rgba(int,int,int,double)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função hsla(int, %,%,double)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Char char="➤"/>
            </a:pPr>
            <a:r>
              <a:rPr lang="pt-BR"/>
              <a:t>o double é o alpha</a:t>
            </a:r>
            <a:endParaRPr/>
          </a:p>
          <a:p>
            <a:pPr indent="-228600" lvl="3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Char char="➤"/>
            </a:pPr>
            <a:r>
              <a:rPr lang="pt-BR"/>
              <a:t>quanto transparente é a cor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testem aí</a:t>
            </a:r>
            <a:endParaRPr/>
          </a:p>
        </p:txBody>
      </p:sp>
      <p:sp>
        <p:nvSpPr>
          <p:cNvPr id="1073" name="Google Shape;1073;p13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4" name="Google Shape;1074;p13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75" name="Google Shape;1075;p139"/>
          <p:cNvSpPr txBox="1"/>
          <p:nvPr/>
        </p:nvSpPr>
        <p:spPr>
          <a:xfrm>
            <a:off x="4847400" y="0"/>
            <a:ext cx="42966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h1 {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rgba(0,0,255,0.9)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h2 {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rgba(0,0,255,0.7);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h3 {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rgba(0,0,255,0.5);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h4 {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rgba(0,0,255,0.3);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h5 {</a:t>
            </a:r>
            <a:r>
              <a:rPr b="1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rgba(0,0,255,0.1);</a:t>
            </a:r>
            <a:r>
              <a:rPr b="0" i="0" lang="pt-BR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2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4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Valores de Cores</a:t>
            </a:r>
            <a:endParaRPr/>
          </a:p>
        </p:txBody>
      </p:sp>
      <p:sp>
        <p:nvSpPr>
          <p:cNvPr id="1082" name="Google Shape;1082;p140"/>
          <p:cNvSpPr txBox="1"/>
          <p:nvPr>
            <p:ph idx="1" type="body"/>
          </p:nvPr>
        </p:nvSpPr>
        <p:spPr>
          <a:xfrm>
            <a:off x="628650" y="1653038"/>
            <a:ext cx="5192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Normalmente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Hexadecimal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Nome</a:t>
            </a:r>
            <a:endParaRPr b="1"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Caso algum dia na vida de vocês precisem, vocês sabem o que são os dois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RGB(A)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HSL(A)</a:t>
            </a:r>
            <a:endParaRPr/>
          </a:p>
        </p:txBody>
      </p:sp>
      <p:sp>
        <p:nvSpPr>
          <p:cNvPr id="1083" name="Google Shape;1083;p14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4" name="Google Shape;1084;p14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4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px</a:t>
            </a:r>
            <a:endParaRPr/>
          </a:p>
        </p:txBody>
      </p:sp>
      <p:sp>
        <p:nvSpPr>
          <p:cNvPr id="1091" name="Google Shape;1091;p141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é esse px?</a:t>
            </a:r>
            <a:r>
              <a:rPr b="1" lang="pt-BR"/>
              <a:t> </a:t>
            </a:r>
            <a:endParaRPr/>
          </a:p>
        </p:txBody>
      </p:sp>
      <p:sp>
        <p:nvSpPr>
          <p:cNvPr id="1092" name="Google Shape;1092;p14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3" name="Google Shape;1093;p14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094" name="Google Shape;1094;p141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4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px</a:t>
            </a:r>
            <a:endParaRPr/>
          </a:p>
        </p:txBody>
      </p:sp>
      <p:sp>
        <p:nvSpPr>
          <p:cNvPr id="1101" name="Google Shape;1101;p142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É uma das unidades de medida do CSS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px ⇒ pixels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Quais as outras?</a:t>
            </a:r>
            <a:endParaRPr/>
          </a:p>
        </p:txBody>
      </p:sp>
      <p:sp>
        <p:nvSpPr>
          <p:cNvPr id="1102" name="Google Shape;1102;p14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3" name="Google Shape;1103;p14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04" name="Google Shape;1104;p142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Medidas Absolutas</a:t>
            </a:r>
            <a:endParaRPr/>
          </a:p>
        </p:txBody>
      </p:sp>
      <p:sp>
        <p:nvSpPr>
          <p:cNvPr id="1111" name="Google Shape;1111;p143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px ⇒ pixel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mm ⇒ 	milímetro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1mm ⇒ 3.78px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in ⇒ polegada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1in ⇒  96px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pt ⇒ pontos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1pt ⇒ 1.33px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pc ⇒ paicas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1pc ⇒ 16px</a:t>
            </a:r>
            <a:endParaRPr/>
          </a:p>
        </p:txBody>
      </p:sp>
      <p:sp>
        <p:nvSpPr>
          <p:cNvPr id="1112" name="Google Shape;1112;p14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3" name="Google Shape;1113;p14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14" name="Google Shape;1114;p143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4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Medidas Absolutas</a:t>
            </a:r>
            <a:endParaRPr/>
          </a:p>
        </p:txBody>
      </p:sp>
      <p:sp>
        <p:nvSpPr>
          <p:cNvPr id="1121" name="Google Shape;1121;p144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Pixel é a mais usada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 para usar qualquer uma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Coloquem outra unidade de medida para testar</a:t>
            </a:r>
            <a:endParaRPr/>
          </a:p>
        </p:txBody>
      </p:sp>
      <p:sp>
        <p:nvSpPr>
          <p:cNvPr id="1122" name="Google Shape;1122;p14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3" name="Google Shape;1123;p14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24" name="Google Shape;1124;p144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4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Medidas Absolutas</a:t>
            </a:r>
            <a:endParaRPr/>
          </a:p>
        </p:txBody>
      </p:sp>
      <p:sp>
        <p:nvSpPr>
          <p:cNvPr id="1131" name="Google Shape;1131;p145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Pixel é a mais usada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 para usar qualquer uma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Coloquem outra unidade de medida para testar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Qual motivos que pixel é a mais usada?</a:t>
            </a:r>
            <a:endParaRPr b="1"/>
          </a:p>
        </p:txBody>
      </p:sp>
      <p:sp>
        <p:nvSpPr>
          <p:cNvPr id="1132" name="Google Shape;1132;p14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33" name="Google Shape;1133;p14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34" name="Google Shape;1134;p145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4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Medidas Absolutas</a:t>
            </a:r>
            <a:endParaRPr/>
          </a:p>
        </p:txBody>
      </p:sp>
      <p:sp>
        <p:nvSpPr>
          <p:cNvPr id="1141" name="Google Shape;1141;p146"/>
          <p:cNvSpPr txBox="1"/>
          <p:nvPr>
            <p:ph idx="1" type="body"/>
          </p:nvPr>
        </p:nvSpPr>
        <p:spPr>
          <a:xfrm>
            <a:off x="628650" y="1653038"/>
            <a:ext cx="3744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Pixel é a mais usada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Da para usar qualquer uma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Coloquem outra unidade de medida para testar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Qual motivos que pixel é a mais usada?</a:t>
            </a:r>
            <a:endParaRPr/>
          </a:p>
          <a:p>
            <a:pPr indent="-234950" lvl="2" marL="102870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100"/>
              <a:buChar char="➤"/>
            </a:pPr>
            <a:r>
              <a:rPr b="1" lang="pt-BR"/>
              <a:t>Pixel é relativo ao tamanho da tela</a:t>
            </a:r>
            <a:endParaRPr b="1"/>
          </a:p>
        </p:txBody>
      </p:sp>
      <p:sp>
        <p:nvSpPr>
          <p:cNvPr id="1142" name="Google Shape;1142;p14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3" name="Google Shape;1143;p14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144" name="Google Shape;1144;p146"/>
          <p:cNvSpPr txBox="1"/>
          <p:nvPr/>
        </p:nvSpPr>
        <p:spPr>
          <a:xfrm>
            <a:off x="4373550" y="0"/>
            <a:ext cx="4770300" cy="44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color : brown;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line-height: 25</a:t>
            </a: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letter-spacing: 2px;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text-transform: uppercase;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word-spacing: 10px;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text-indent: 20px;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text-shadow: 3px 2px gray;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4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51" name="Google Shape;1151;p14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2" name="Google Shape;1152;p14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4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59" name="Google Shape;1159;p148"/>
          <p:cNvSpPr txBox="1"/>
          <p:nvPr>
            <p:ph idx="1" type="body"/>
          </p:nvPr>
        </p:nvSpPr>
        <p:spPr>
          <a:xfrm>
            <a:off x="628650" y="1653038"/>
            <a:ext cx="31572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Alguém sabe o que é?</a:t>
            </a:r>
            <a:endParaRPr b="1"/>
          </a:p>
        </p:txBody>
      </p:sp>
      <p:sp>
        <p:nvSpPr>
          <p:cNvPr id="1160" name="Google Shape;1160;p14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1" name="Google Shape;1161;p14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4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68" name="Google Shape;1168;p149"/>
          <p:cNvSpPr txBox="1"/>
          <p:nvPr>
            <p:ph idx="1" type="body"/>
          </p:nvPr>
        </p:nvSpPr>
        <p:spPr>
          <a:xfrm>
            <a:off x="628650" y="1653038"/>
            <a:ext cx="59745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Imagino que vocês já notaram no html que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alguns elementos tem mais espaçamento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outros têm menos</a:t>
            </a:r>
            <a:endParaRPr/>
          </a:p>
        </p:txBody>
      </p:sp>
      <p:sp>
        <p:nvSpPr>
          <p:cNvPr id="1169" name="Google Shape;1169;p14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0" name="Google Shape;1170;p14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5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77" name="Google Shape;1177;p150"/>
          <p:cNvSpPr txBox="1"/>
          <p:nvPr>
            <p:ph idx="1" type="body"/>
          </p:nvPr>
        </p:nvSpPr>
        <p:spPr>
          <a:xfrm>
            <a:off x="628650" y="1653038"/>
            <a:ext cx="59745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É como o html lida com espaçamentos do conteúdo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Envolve 3 propriedades que são importantes para o estilo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Margin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Border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Padding</a:t>
            </a:r>
            <a:endParaRPr/>
          </a:p>
        </p:txBody>
      </p:sp>
      <p:sp>
        <p:nvSpPr>
          <p:cNvPr id="1178" name="Google Shape;1178;p15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9" name="Google Shape;1179;p15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5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86" name="Google Shape;1186;p15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7" name="Google Shape;1187;p15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188" name="Google Shape;1188;p151"/>
          <p:cNvPicPr preferRelativeResize="0"/>
          <p:nvPr/>
        </p:nvPicPr>
        <p:blipFill rotWithShape="1">
          <a:blip r:embed="rId3">
            <a:alphaModFix/>
          </a:blip>
          <a:srcRect b="15345" l="17586" r="15498" t="29296"/>
          <a:stretch/>
        </p:blipFill>
        <p:spPr>
          <a:xfrm>
            <a:off x="790217" y="1587150"/>
            <a:ext cx="7563556" cy="35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5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195" name="Google Shape;1195;p152"/>
          <p:cNvSpPr txBox="1"/>
          <p:nvPr>
            <p:ph idx="1" type="body"/>
          </p:nvPr>
        </p:nvSpPr>
        <p:spPr>
          <a:xfrm>
            <a:off x="628650" y="1653038"/>
            <a:ext cx="59745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Peguem uma página qualquer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Cliquem com o segundo botão em cima de algum elemento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Cliquem em inspecionar</a:t>
            </a:r>
            <a:endParaRPr/>
          </a:p>
        </p:txBody>
      </p:sp>
      <p:sp>
        <p:nvSpPr>
          <p:cNvPr id="1196" name="Google Shape;1196;p15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7" name="Google Shape;1197;p15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5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Box model</a:t>
            </a:r>
            <a:endParaRPr/>
          </a:p>
        </p:txBody>
      </p:sp>
      <p:sp>
        <p:nvSpPr>
          <p:cNvPr id="1204" name="Google Shape;1204;p153"/>
          <p:cNvSpPr txBox="1"/>
          <p:nvPr>
            <p:ph idx="1" type="body"/>
          </p:nvPr>
        </p:nvSpPr>
        <p:spPr>
          <a:xfrm>
            <a:off x="628650" y="1653038"/>
            <a:ext cx="59745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Peguem uma página qualquer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Cliquem com o segundo botão em cima de algum elemento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Cliquem em inspecionar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Devem ter visto algo parecido com a figura anterior só que do objeto específico...</a:t>
            </a:r>
            <a:endParaRPr/>
          </a:p>
        </p:txBody>
      </p:sp>
      <p:sp>
        <p:nvSpPr>
          <p:cNvPr id="1205" name="Google Shape;1205;p15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6" name="Google Shape;1206;p15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5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13" name="Google Shape;1213;p15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14" name="Google Shape;1214;p15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5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21" name="Google Shape;1221;p155"/>
          <p:cNvSpPr txBox="1"/>
          <p:nvPr>
            <p:ph idx="1" type="body"/>
          </p:nvPr>
        </p:nvSpPr>
        <p:spPr>
          <a:xfrm>
            <a:off x="628650" y="1653038"/>
            <a:ext cx="74889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Criem um arquivo html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Coloquem 11 parágrafos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Criem um arquivo css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Linkar o arquivo css ao html</a:t>
            </a:r>
            <a:endParaRPr b="1"/>
          </a:p>
        </p:txBody>
      </p:sp>
      <p:sp>
        <p:nvSpPr>
          <p:cNvPr id="1222" name="Google Shape;1222;p15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3" name="Google Shape;1223;p15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5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30" name="Google Shape;1230;p156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Coloquem mais esse código CSS no arquivo CSS de vocês</a:t>
            </a:r>
            <a:endParaRPr/>
          </a:p>
        </p:txBody>
      </p:sp>
      <p:sp>
        <p:nvSpPr>
          <p:cNvPr id="1231" name="Google Shape;1231;p15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2" name="Google Shape;1232;p15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33" name="Google Shape;1233;p156"/>
          <p:cNvSpPr txBox="1"/>
          <p:nvPr/>
        </p:nvSpPr>
        <p:spPr>
          <a:xfrm>
            <a:off x="3225694" y="0"/>
            <a:ext cx="5918100" cy="500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p.dotted {border-style: dotted;}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p.dashed {border-style: dashed;}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p.solid {border-style: solid;}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p.double {border-style: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p.groove {border-style: groove;}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p.ridge {border-style: ridge;}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p.inset {border-style: inset;}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p.outset {border-style: outset;}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p.none {border-style: none;}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p.hidden {border-style: hidden;}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p.mix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border-style: dotted dashed solid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5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40" name="Google Shape;1240;p157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b="1" lang="pt-BR"/>
              <a:t>Coloquem as classes uma em cada parágrafo para vocês verem como fica esse css</a:t>
            </a:r>
            <a:endParaRPr b="1"/>
          </a:p>
        </p:txBody>
      </p:sp>
      <p:sp>
        <p:nvSpPr>
          <p:cNvPr id="1241" name="Google Shape;1241;p15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2" name="Google Shape;1242;p15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43" name="Google Shape;1243;p157"/>
          <p:cNvSpPr txBox="1"/>
          <p:nvPr/>
        </p:nvSpPr>
        <p:spPr>
          <a:xfrm>
            <a:off x="3225694" y="0"/>
            <a:ext cx="5918100" cy="500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p.dotted {border-style: dotted;}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p.dashed {border-style: dashed;}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p.solid {border-style: solid;}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p.double {border-style: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p.groove {border-style: groove;}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p.ridge {border-style: ridge;}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p.inset {border-style: inset;}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p.outset {border-style: outset;}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p.none {border-style: none;}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p.hidden {border-style: hidden;}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p.mix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border-style: dotted dashed solid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5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50" name="Google Shape;1250;p158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Cada uma delas é diferente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A última é uma para cada borda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Sentido horário 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top, right, bottom, left</a:t>
            </a:r>
            <a:endParaRPr/>
          </a:p>
        </p:txBody>
      </p:sp>
      <p:sp>
        <p:nvSpPr>
          <p:cNvPr id="1251" name="Google Shape;1251;p15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2" name="Google Shape;1252;p15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53" name="Google Shape;1253;p158"/>
          <p:cNvSpPr txBox="1"/>
          <p:nvPr/>
        </p:nvSpPr>
        <p:spPr>
          <a:xfrm>
            <a:off x="3225694" y="0"/>
            <a:ext cx="5918100" cy="500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p.dotted {border-style: dotted;}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p.dashed {border-style: dashed;}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p.solid {border-style: solid;}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p.double {border-style: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p.groove {border-style: groove;}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p.ridge {border-style: ridge;}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p.inset {border-style: inset;}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p.outset {border-style: outset;}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p.none {border-style: none;}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p.hidden {border-style: hidden;}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p.mix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border-style: dotted dashed solid double;}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5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60" name="Google Shape;1260;p159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 alterando os estilos anteriores?</a:t>
            </a:r>
            <a:endParaRPr/>
          </a:p>
        </p:txBody>
      </p:sp>
      <p:sp>
        <p:nvSpPr>
          <p:cNvPr id="1261" name="Google Shape;1261;p15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2" name="Google Shape;1262;p15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63" name="Google Shape;1263;p159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p.solid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border-style: solid;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border-width: 5px;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border-color: red;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p.dotted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border-style: solid;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border-width: 10px;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border-color: red green yellow blue;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6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70" name="Google Shape;1270;p160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Podemos também ter bordas individuais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Cada lado definido especificamente</a:t>
            </a:r>
            <a:endParaRPr/>
          </a:p>
        </p:txBody>
      </p:sp>
      <p:sp>
        <p:nvSpPr>
          <p:cNvPr id="1271" name="Google Shape;1271;p16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2" name="Google Shape;1272;p16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73" name="Google Shape;1273;p160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border-top-style: dotted;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border-right-style: solid;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border-bottom-style: dotted;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border-left-style: solid;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6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80" name="Google Shape;1280;p161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Podemos também ter bordas individuais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b="1" lang="pt-BR"/>
              <a:t>borda individual a gente pode definir todos os estilos daquele lado numa linha só</a:t>
            </a:r>
            <a:endParaRPr b="1"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b="1" lang="pt-BR"/>
              <a:t>não precisa de ordem</a:t>
            </a:r>
            <a:endParaRPr/>
          </a:p>
        </p:txBody>
      </p:sp>
      <p:sp>
        <p:nvSpPr>
          <p:cNvPr id="1281" name="Google Shape;1281;p16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2" name="Google Shape;1282;p16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283" name="Google Shape;1283;p161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p.solid {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border-left: red 6px solid 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lightgrey;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p.dotted {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border-left: dotted darkGreen 6px;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lightgrey;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6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290" name="Google Shape;1290;p162"/>
          <p:cNvSpPr txBox="1"/>
          <p:nvPr>
            <p:ph idx="1" type="body"/>
          </p:nvPr>
        </p:nvSpPr>
        <p:spPr>
          <a:xfrm>
            <a:off x="628650" y="1653038"/>
            <a:ext cx="18075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Com base no que a gente viu até agora…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Façam o html de vocês ficar assim ⇒ </a:t>
            </a:r>
            <a:endParaRPr/>
          </a:p>
        </p:txBody>
      </p:sp>
      <p:sp>
        <p:nvSpPr>
          <p:cNvPr id="1291" name="Google Shape;1291;p16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2" name="Google Shape;1292;p16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293" name="Google Shape;1293;p162"/>
          <p:cNvPicPr preferRelativeResize="0"/>
          <p:nvPr/>
        </p:nvPicPr>
        <p:blipFill rotWithShape="1">
          <a:blip r:embed="rId3">
            <a:alphaModFix/>
          </a:blip>
          <a:srcRect b="0" l="0" r="1147" t="10579"/>
          <a:stretch/>
        </p:blipFill>
        <p:spPr>
          <a:xfrm>
            <a:off x="2436056" y="561576"/>
            <a:ext cx="6707944" cy="3448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6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</a:t>
            </a:r>
            <a:endParaRPr/>
          </a:p>
        </p:txBody>
      </p:sp>
      <p:sp>
        <p:nvSpPr>
          <p:cNvPr id="1300" name="Google Shape;1300;p163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Não é só um atributo de parágrafos!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É aplicada a praticamente todos os elementos que a gente 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Criem um botão e apliquem a classe ao lado...</a:t>
            </a:r>
            <a:endParaRPr/>
          </a:p>
        </p:txBody>
      </p:sp>
      <p:sp>
        <p:nvSpPr>
          <p:cNvPr id="1301" name="Google Shape;1301;p16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2" name="Google Shape;1302;p16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03" name="Google Shape;1303;p163"/>
          <p:cNvSpPr txBox="1"/>
          <p:nvPr/>
        </p:nvSpPr>
        <p:spPr>
          <a:xfrm>
            <a:off x="3225694" y="0"/>
            <a:ext cx="5918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.botao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text-decoration: none;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#4CAF50;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none;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white;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text-align: center;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16px;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6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Border-radius</a:t>
            </a:r>
            <a:endParaRPr/>
          </a:p>
        </p:txBody>
      </p:sp>
      <p:sp>
        <p:nvSpPr>
          <p:cNvPr id="1310" name="Google Shape;1310;p164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 aí se colocar esse border-radius?</a:t>
            </a:r>
            <a:endParaRPr/>
          </a:p>
        </p:txBody>
      </p:sp>
      <p:sp>
        <p:nvSpPr>
          <p:cNvPr id="1311" name="Google Shape;1311;p16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12" name="Google Shape;1312;p16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13" name="Google Shape;1313;p164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.botao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text-decoration: none;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#4CAF50;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none;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white;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text-align: center;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16px;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6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Border-radius</a:t>
            </a:r>
            <a:endParaRPr/>
          </a:p>
        </p:txBody>
      </p:sp>
      <p:sp>
        <p:nvSpPr>
          <p:cNvPr id="1320" name="Google Shape;1320;p165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Deixa os cantos mais redondinhos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Quando maior o número mais redondo fica</a:t>
            </a:r>
            <a:endParaRPr/>
          </a:p>
        </p:txBody>
      </p:sp>
      <p:sp>
        <p:nvSpPr>
          <p:cNvPr id="1321" name="Google Shape;1321;p16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2" name="Google Shape;1322;p16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23" name="Google Shape;1323;p165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.botao {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text-decoration: none;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background-color: #4CAF50;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none;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color: white;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text-align: center;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font-size: 16px;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border-radius: 5px;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6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30" name="Google Shape;1330;p16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31" name="Google Shape;1331;p16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6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38" name="Google Shape;1338;p167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339" name="Google Shape;1339;p16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0" name="Google Shape;1340;p16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41" name="Google Shape;1341;p167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margin-top: 100px;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margin-bottom: 100px;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margin-right: 150px;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margin-left: 80px;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6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48" name="Google Shape;1348;p168"/>
          <p:cNvSpPr txBox="1"/>
          <p:nvPr>
            <p:ph idx="1" type="body"/>
          </p:nvPr>
        </p:nvSpPr>
        <p:spPr>
          <a:xfrm>
            <a:off x="628650" y="1653038"/>
            <a:ext cx="2599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349" name="Google Shape;1349;p16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50" name="Google Shape;1350;p16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51" name="Google Shape;1351;p168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25px 50px 75px 100px;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6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58" name="Google Shape;1358;p169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Margem de cada lado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cada um com seu valor específico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sentido horário começando pelo top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top right bottom left</a:t>
            </a:r>
            <a:endParaRPr/>
          </a:p>
        </p:txBody>
      </p:sp>
      <p:sp>
        <p:nvSpPr>
          <p:cNvPr id="1359" name="Google Shape;1359;p16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0" name="Google Shape;1360;p16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61" name="Google Shape;1361;p169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25px 50px 75px 100px;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7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68" name="Google Shape;1368;p170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369" name="Google Shape;1369;p17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0" name="Google Shape;1370;p17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71" name="Google Shape;1371;p170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50px;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7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78" name="Google Shape;1378;p171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Margem 50px em todos os lados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Não precisa definir todos os lados se eles forem iguais</a:t>
            </a:r>
            <a:endParaRPr/>
          </a:p>
        </p:txBody>
      </p:sp>
      <p:sp>
        <p:nvSpPr>
          <p:cNvPr id="1379" name="Google Shape;1379;p17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0" name="Google Shape;1380;p17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81" name="Google Shape;1381;p171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50px;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7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88" name="Google Shape;1388;p172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389" name="Google Shape;1389;p17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0" name="Google Shape;1390;p17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391" name="Google Shape;1391;p172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auto;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7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398" name="Google Shape;1398;p173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Coloca o elemento no meio horizontalmente do elemento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Se estiver dentro de um div? </a:t>
            </a:r>
            <a:endParaRPr/>
          </a:p>
        </p:txBody>
      </p:sp>
      <p:sp>
        <p:nvSpPr>
          <p:cNvPr id="1399" name="Google Shape;1399;p17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0" name="Google Shape;1400;p17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01" name="Google Shape;1401;p173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width:500px;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auto;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7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Margin</a:t>
            </a:r>
            <a:endParaRPr/>
          </a:p>
        </p:txBody>
      </p:sp>
      <p:sp>
        <p:nvSpPr>
          <p:cNvPr id="1408" name="Google Shape;1408;p174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</a:pPr>
            <a:r>
              <a:rPr lang="pt-BR"/>
              <a:t>Colapsar a margem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00"/>
              <a:buChar char="➤"/>
            </a:pPr>
            <a:r>
              <a:rPr lang="pt-BR"/>
              <a:t>Muitos elementos têm margem por padrão</a:t>
            </a:r>
            <a:endParaRPr/>
          </a:p>
          <a:p>
            <a:pPr indent="-247650" lvl="1" marL="6858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300"/>
              <a:buChar char="➤"/>
            </a:pPr>
            <a:r>
              <a:rPr lang="pt-BR"/>
              <a:t>Para tirar a margem temos de definir para </a:t>
            </a:r>
            <a:r>
              <a:rPr b="1" lang="pt-BR"/>
              <a:t>margin: 0</a:t>
            </a:r>
            <a:endParaRPr/>
          </a:p>
        </p:txBody>
      </p:sp>
      <p:sp>
        <p:nvSpPr>
          <p:cNvPr id="1409" name="Google Shape;1409;p17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0" name="Google Shape;1410;p17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11" name="Google Shape;1411;p174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width:500px;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black;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margin: 0;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7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pt-BR"/>
              <a:t>Padding</a:t>
            </a:r>
            <a:endParaRPr/>
          </a:p>
        </p:txBody>
      </p:sp>
      <p:sp>
        <p:nvSpPr>
          <p:cNvPr id="1418" name="Google Shape;1418;p17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19" name="Google Shape;1419;p17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7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Padding</a:t>
            </a:r>
            <a:endParaRPr/>
          </a:p>
        </p:txBody>
      </p:sp>
      <p:sp>
        <p:nvSpPr>
          <p:cNvPr id="1426" name="Google Shape;1426;p176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427" name="Google Shape;1427;p17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8" name="Google Shape;1428;p17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29" name="Google Shape;1429;p176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padding-top: 50px;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padding-right: 30px;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padding-bottom: 50px;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padding-left: 80px;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7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Padding</a:t>
            </a:r>
            <a:endParaRPr/>
          </a:p>
        </p:txBody>
      </p:sp>
      <p:sp>
        <p:nvSpPr>
          <p:cNvPr id="1436" name="Google Shape;1436;p177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437" name="Google Shape;1437;p17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8" name="Google Shape;1438;p17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39" name="Google Shape;1439;p177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padding: 25px 50px 75px 100px;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7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Padding</a:t>
            </a:r>
            <a:endParaRPr/>
          </a:p>
        </p:txBody>
      </p:sp>
      <p:sp>
        <p:nvSpPr>
          <p:cNvPr id="1446" name="Google Shape;1446;p178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O que acontece?</a:t>
            </a:r>
            <a:endParaRPr/>
          </a:p>
        </p:txBody>
      </p:sp>
      <p:sp>
        <p:nvSpPr>
          <p:cNvPr id="1447" name="Google Shape;1447;p17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8" name="Google Shape;1448;p17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49" name="Google Shape;1449;p178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padding: 30px;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7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Padding</a:t>
            </a:r>
            <a:endParaRPr/>
          </a:p>
        </p:txBody>
      </p:sp>
      <p:sp>
        <p:nvSpPr>
          <p:cNvPr id="1456" name="Google Shape;1456;p179"/>
          <p:cNvSpPr txBox="1"/>
          <p:nvPr>
            <p:ph idx="1" type="body"/>
          </p:nvPr>
        </p:nvSpPr>
        <p:spPr>
          <a:xfrm>
            <a:off x="628650" y="1653038"/>
            <a:ext cx="27648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➤"/>
            </a:pPr>
            <a:r>
              <a:rPr lang="pt-BR"/>
              <a:t>Basicamente são os mesmos valores do margin só que ao invés de ser o espaçamento externo é o interno</a:t>
            </a:r>
            <a:endParaRPr/>
          </a:p>
        </p:txBody>
      </p:sp>
      <p:sp>
        <p:nvSpPr>
          <p:cNvPr id="1457" name="Google Shape;1457;p17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8" name="Google Shape;1458;p17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59" name="Google Shape;1459;p179"/>
          <p:cNvSpPr txBox="1"/>
          <p:nvPr/>
        </p:nvSpPr>
        <p:spPr>
          <a:xfrm>
            <a:off x="3432825" y="0"/>
            <a:ext cx="5711100" cy="46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padding: auto;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padding: 0;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80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1466" name="Google Shape;1466;p18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67" name="Google Shape;1467;p180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