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</p:sldIdLst>
  <p:sldSz cy="5143500" cx="9144000"/>
  <p:notesSz cx="6858000" cy="9144000"/>
  <p:embeddedFontLst>
    <p:embeddedFont>
      <p:font typeface="Open Sans"/>
      <p:regular r:id="rId172"/>
      <p:bold r:id="rId173"/>
      <p:italic r:id="rId174"/>
      <p:boldItalic r:id="rId1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CCA368-2E8F-4469-8471-A0AE9E97C2B5}">
  <a:tblStyle styleId="{2BCCA368-2E8F-4469-8471-A0AE9E97C2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175" Type="http://schemas.openxmlformats.org/officeDocument/2006/relationships/font" Target="fonts/OpenSans-boldItalic.fntdata"/><Relationship Id="rId39" Type="http://schemas.openxmlformats.org/officeDocument/2006/relationships/slide" Target="slides/slide33.xml"/><Relationship Id="rId174" Type="http://schemas.openxmlformats.org/officeDocument/2006/relationships/font" Target="fonts/OpenSans-italic.fntdata"/><Relationship Id="rId38" Type="http://schemas.openxmlformats.org/officeDocument/2006/relationships/slide" Target="slides/slide32.xml"/><Relationship Id="rId173" Type="http://schemas.openxmlformats.org/officeDocument/2006/relationships/font" Target="fonts/OpenSans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font" Target="fonts/OpenSans-regular.fntdata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475f7c0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475f7c0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770b6e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770b6e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770b6ed0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8770b6ed0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8770b6ed05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770b6ed0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8770b6ed0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8770b6ed0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770b6ed05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8770b6ed05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8770b6ed05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770b6ed05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8770b6ed05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8770b6ed05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770b6ed05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8770b6ed05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8770b6ed05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770b6ed05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8770b6ed05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8770b6ed05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770b6ed05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8770b6ed05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8770b6ed05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770b6ed05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8770b6ed05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8770b6ed05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770b6ed05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8770b6ed05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8770b6ed05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770b6ed05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8770b6ed05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8770b6ed05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770b6ed05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8770b6ed05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8770b6ed05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770b6ed05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8770b6ed05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8770b6ed05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770b6ed05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8770b6ed05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8770b6ed05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770b6ed05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8770b6ed05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8770b6ed05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770b6ed05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8770b6ed05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8770b6ed05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8770b6ed05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8770b6ed05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8770b6ed05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770b6ed05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8770b6ed05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8770b6ed05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770b6ed05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8770b6ed05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8770b6ed05_0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770b6ed05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8770b6ed05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8770b6ed05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770b6ed05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8770b6ed05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8770b6ed05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770b6ed05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8770b6ed05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8770b6ed05_0_1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770b6ed05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8770b6ed05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8770b6ed05_0_1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770b6ed05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8770b6ed05_0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8770b6ed05_0_2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8770b6ed05_0_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8770b6ed05_0_2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g38770b6ed05_0_2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770b6ed05_0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8770b6ed05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g38770b6ed05_0_3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770b6ed05_0_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8770b6ed05_0_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38770b6ed05_0_3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770b6ed05_0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8770b6ed05_0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8770b6ed05_0_3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770b6ed05_0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8770b6ed05_0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38770b6ed05_0_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770b6ed05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8770b6ed05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38770b6ed05_0_3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770b6ed05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8770b6ed05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g38770b6ed05_0_3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770b6ed05_0_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8770b6ed05_0_3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g38770b6ed05_0_3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770b6ed05_0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8770b6ed05_0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8770b6ed05_0_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770b6ed05_0_3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8770b6ed05_0_3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38770b6ed05_0_3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8770b6ed05_0_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8770b6ed05_0_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8770b6ed05_0_3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8770b6ed05_0_3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8770b6ed05_0_3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38770b6ed05_0_3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8770b6ed05_0_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8770b6ed05_0_3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g38770b6ed05_0_3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8770b6ed05_0_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8770b6ed05_0_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8770b6ed05_0_4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8770b6ed05_0_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8770b6ed05_0_4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g38770b6ed05_0_4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8770b6ed05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8770b6ed05_0_4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8770b6ed05_0_4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8770b6ed05_0_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8770b6ed05_0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g38770b6ed05_0_4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8770b6ed05_0_4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8770b6ed05_0_4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g38770b6ed05_0_4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8770b6ed05_0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8770b6ed05_0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8770b6ed05_0_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8770b6ed05_0_4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8770b6ed05_0_4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g38770b6ed05_0_4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8770b6ed05_0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8770b6ed05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g38770b6ed05_0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770b6ed05_0_4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8770b6ed05_0_4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g38770b6ed05_0_4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770b6ed05_0_4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8770b6ed05_0_4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7" name="Google Shape;577;g38770b6ed05_0_4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8770b6ed05_0_4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8770b6ed05_0_4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8770b6ed05_0_4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8770b6ed05_0_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8770b6ed05_0_4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g38770b6ed05_0_4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8770b6ed05_0_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8770b6ed05_0_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g38770b6ed05_0_4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8770b6ed05_0_5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8770b6ed05_0_5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g38770b6ed05_0_5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8770b6ed05_0_6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38770b6ed05_0_6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2" name="Google Shape;622;g38770b6ed05_0_6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770b6ed05_0_6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8770b6ed05_0_6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g38770b6ed05_0_6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8770b6ed05_0_6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8770b6ed05_0_6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g38770b6ed05_0_6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8770b6ed05_0_6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8770b6ed05_0_6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8770b6ed05_0_6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8770b6ed05_0_6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8770b6ed05_0_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g38770b6ed05_0_6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8770b6ed05_0_6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8770b6ed05_0_6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g38770b6ed05_0_6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8770b6ed05_0_6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8770b6ed05_0_6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8770b6ed05_0_6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8770b6ed05_0_6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8770b6ed05_0_6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8770b6ed05_0_6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8770b6ed05_0_6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8770b6ed05_0_6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g38770b6ed05_0_6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8770b6ed05_0_6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8770b6ed05_0_6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38770b6ed05_0_6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8770b6ed05_0_6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g38770b6ed05_0_6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g38770b6ed05_0_6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8770b6ed05_0_7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8770b6ed05_0_7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38770b6ed05_0_7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8770b6ed05_0_7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g38770b6ed05_0_7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g38770b6ed05_0_7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8770b6ed05_0_7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g38770b6ed05_0_7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g38770b6ed05_0_7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8770b6ed05_0_7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g38770b6ed05_0_7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8770b6ed05_0_7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8770b6ed05_0_7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8770b6ed05_0_7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g38770b6ed05_0_7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8770b6ed05_0_7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g38770b6ed05_0_7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g38770b6ed05_0_7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8770b6ed05_0_7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g38770b6ed05_0_7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8770b6ed05_0_7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8770b6ed05_0_7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g38770b6ed05_0_7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8770b6ed05_0_7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8770b6ed05_0_7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38770b6ed05_0_7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8770b6ed05_0_7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8770b6ed05_0_7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8770b6ed05_0_7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g38770b6ed05_0_7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8770b6ed05_0_7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8770b6ed05_0_7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g38770b6ed05_0_7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8770b6ed05_0_8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8770b6ed05_0_8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8" name="Google Shape;838;g38770b6ed05_0_8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8770b6ed05_0_8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g38770b6ed05_0_8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g38770b6ed05_0_8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8770b6ed05_0_8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g38770b6ed05_0_8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8" name="Google Shape;858;g38770b6ed05_0_8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8770b6ed05_0_8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38770b6ed05_0_8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g38770b6ed05_0_8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8770b6ed05_0_8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g38770b6ed05_0_8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7" name="Google Shape;877;g38770b6ed05_0_8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8770b6ed05_0_15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g38770b6ed05_0_15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7" name="Google Shape;887;g38770b6ed05_0_15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8770b6ed05_0_15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38770b6ed05_0_15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6" name="Google Shape;896;g38770b6ed05_0_15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8770b6ed05_0_15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g38770b6ed05_0_15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8770b6ed05_0_15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8770b6ed05_0_16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38770b6ed05_0_16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38770b6ed05_0_16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8770b6ed05_0_16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g38770b6ed05_0_16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5" name="Google Shape;925;g38770b6ed05_0_16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8770b6ed05_0_16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g38770b6ed05_0_16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4" name="Google Shape;934;g38770b6ed05_0_16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8770b6ed05_0_16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g38770b6ed05_0_16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g38770b6ed05_0_16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8770b6ed05_0_16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g38770b6ed05_0_16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3" name="Google Shape;953;g38770b6ed05_0_16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8770b6ed05_0_16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g38770b6ed05_0_16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3" name="Google Shape;963;g38770b6ed05_0_16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8770b6ed05_0_16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g38770b6ed05_0_16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2" name="Google Shape;972;g38770b6ed05_0_16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8770b6ed05_0_16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g38770b6ed05_0_16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g38770b6ed05_0_16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8770b6ed05_0_16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g38770b6ed05_0_16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g38770b6ed05_0_16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8770b6ed05_0_16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g38770b6ed05_0_16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0" name="Google Shape;1000;g38770b6ed05_0_16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8770b6ed05_0_16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g38770b6ed05_0_16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g38770b6ed05_0_16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8770b6ed05_0_16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38770b6ed05_0_16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g38770b6ed05_0_16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8770b6ed05_0_17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8" name="Google Shape;1028;g38770b6ed05_0_17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9" name="Google Shape;1029;g38770b6ed05_0_17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8770b6ed05_0_17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g38770b6ed05_0_17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g38770b6ed05_0_17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8770b6ed05_0_17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g38770b6ed05_0_17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9" name="Google Shape;1049;g38770b6ed05_0_17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8770b6ed05_0_17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38770b6ed05_0_17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9" name="Google Shape;1059;g38770b6ed05_0_17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8770b6ed05_0_17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g38770b6ed05_0_17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g38770b6ed05_0_17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8770b6ed05_0_17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8" name="Google Shape;1078;g38770b6ed05_0_17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9" name="Google Shape;1079;g38770b6ed05_0_17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8770b6ed05_0_17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g38770b6ed05_0_17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8" name="Google Shape;1088;g38770b6ed05_0_17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8770b6ed05_0_17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g38770b6ed05_0_17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7" name="Google Shape;1097;g38770b6ed05_0_17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8770b6ed05_0_17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g38770b6ed05_0_17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7" name="Google Shape;1107;g38770b6ed05_0_17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8770b6ed05_0_17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g38770b6ed05_0_17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g38770b6ed05_0_17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8770b6ed05_0_17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g38770b6ed05_0_17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6" name="Google Shape;1126;g38770b6ed05_0_17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8770b6ed05_0_17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4" name="Google Shape;1134;g38770b6ed05_0_17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5" name="Google Shape;1135;g38770b6ed05_0_17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8770b6ed05_0_18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g38770b6ed05_0_18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4" name="Google Shape;1144;g38770b6ed05_0_18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8770b6ed05_0_18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g38770b6ed05_0_18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3" name="Google Shape;1153;g38770b6ed05_0_18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8770b6ed05_0_18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38770b6ed05_0_18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2" name="Google Shape;1162;g38770b6ed05_0_18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8770b6ed05_0_18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0" name="Google Shape;1170;g38770b6ed05_0_18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g38770b6ed05_0_18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8770b6ed05_0_18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0" name="Google Shape;1180;g38770b6ed05_0_18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g38770b6ed05_0_18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8770b6ed05_0_18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g38770b6ed05_0_18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0" name="Google Shape;1190;g38770b6ed05_0_18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8770b6ed05_0_18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8" name="Google Shape;1198;g38770b6ed05_0_18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9" name="Google Shape;1199;g38770b6ed05_0_18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8770b6ed05_0_18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8" name="Google Shape;1208;g38770b6ed05_0_18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9" name="Google Shape;1209;g38770b6ed05_0_18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8770b6ed05_0_18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8" name="Google Shape;1218;g38770b6ed05_0_18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9" name="Google Shape;1219;g38770b6ed05_0_18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8770b6ed05_0_18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g38770b6ed05_0_18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9" name="Google Shape;1229;g38770b6ed05_0_18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8770b6ed05_0_18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7" name="Google Shape;1237;g38770b6ed05_0_18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8" name="Google Shape;1238;g38770b6ed05_0_18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8770b6ed05_0_18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g38770b6ed05_0_18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7" name="Google Shape;1247;g38770b6ed05_0_18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8770b6ed05_0_19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5" name="Google Shape;1255;g38770b6ed05_0_19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6" name="Google Shape;1256;g38770b6ed05_0_19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8770b6ed05_0_19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38770b6ed05_0_19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5" name="Google Shape;1265;g38770b6ed05_0_19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38770b6ed05_0_19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g38770b6ed05_0_19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5" name="Google Shape;1275;g38770b6ed05_0_19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8770b6ed05_0_19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3" name="Google Shape;1283;g38770b6ed05_0_19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4" name="Google Shape;1284;g38770b6ed05_0_19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8770b6ed05_0_19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2" name="Google Shape;1292;g38770b6ed05_0_19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3" name="Google Shape;1293;g38770b6ed05_0_19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8770b6ed05_0_19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1" name="Google Shape;1301;g38770b6ed05_0_19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2" name="Google Shape;1302;g38770b6ed05_0_19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8770b6ed05_0_19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1" name="Google Shape;1311;g38770b6ed05_0_19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2" name="Google Shape;1312;g38770b6ed05_0_19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8770b6ed05_0_19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g38770b6ed05_0_19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2" name="Google Shape;1322;g38770b6ed05_0_19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38770b6ed05_0_19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0" name="Google Shape;1330;g38770b6ed05_0_19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1" name="Google Shape;1331;g38770b6ed05_0_19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8770b6ed05_0_19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g38770b6ed05_0_19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0" name="Google Shape;1340;g38770b6ed05_0_19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8770b6ed05_0_19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8" name="Google Shape;1348;g38770b6ed05_0_19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9" name="Google Shape;1349;g38770b6ed05_0_19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8770b6ed05_0_19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g38770b6ed05_0_19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8" name="Google Shape;1358;g38770b6ed05_0_19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8770b6ed05_0_20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6" name="Google Shape;1366;g38770b6ed05_0_20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7" name="Google Shape;1367;g38770b6ed05_0_20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38770b6ed05_0_20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6" name="Google Shape;1376;g38770b6ed05_0_20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7" name="Google Shape;1377;g38770b6ed05_0_20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8770b6ed05_0_20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5" name="Google Shape;1385;g38770b6ed05_0_20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6" name="Google Shape;1386;g38770b6ed05_0_20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38770b6ed05_0_20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4" name="Google Shape;1394;g38770b6ed05_0_20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5" name="Google Shape;1395;g38770b6ed05_0_20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8770b6ed05_0_20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g38770b6ed05_0_20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5" name="Google Shape;1405;g38770b6ed05_0_20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8770b6ed05_0_20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3" name="Google Shape;1413;g38770b6ed05_0_20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4" name="Google Shape;1414;g38770b6ed05_0_20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8770b6ed05_0_20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3" name="Google Shape;1423;g38770b6ed05_0_20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4" name="Google Shape;1424;g38770b6ed05_0_20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8770b6ed05_0_20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3" name="Google Shape;1433;g38770b6ed05_0_20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4" name="Google Shape;1434;g38770b6ed05_0_20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8770b6ed05_0_2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2" name="Google Shape;1442;g38770b6ed05_0_2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3" name="Google Shape;1443;g38770b6ed05_0_2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8770b6ed05_0_2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0" name="Google Shape;1450;g38770b6ed05_0_2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1" name="Google Shape;1451;g38770b6ed05_0_2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38770b6ed05_0_2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9" name="Google Shape;1459;g38770b6ed05_0_2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0" name="Google Shape;1460;g38770b6ed05_0_2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8770b6ed05_0_2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7" name="Google Shape;1467;g38770b6ed05_0_2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8" name="Google Shape;1468;g38770b6ed05_0_2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8770b6ed05_0_2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7" name="Google Shape;1477;g38770b6ed05_0_2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8" name="Google Shape;1478;g38770b6ed05_0_2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8770b6ed05_0_2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6" name="Google Shape;1486;g38770b6ed05_0_2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7" name="Google Shape;1487;g38770b6ed05_0_2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8770b6ed05_0_2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6" name="Google Shape;1496;g38770b6ed05_0_2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7" name="Google Shape;1497;g38770b6ed05_0_2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8770b6ed05_0_2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5" name="Google Shape;1505;g38770b6ed05_0_2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6" name="Google Shape;1506;g38770b6ed05_0_2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38770b6ed05_0_2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5" name="Google Shape;1515;g38770b6ed05_0_2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6" name="Google Shape;1516;g38770b6ed05_0_2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38770b6ed05_0_2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4" name="Google Shape;1524;g38770b6ed05_0_2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5" name="Google Shape;1525;g38770b6ed05_0_2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8770b6ed05_0_2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4" name="Google Shape;1534;g38770b6ed05_0_2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5" name="Google Shape;1535;g38770b6ed05_0_2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38770b6ed05_0_2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3" name="Google Shape;1543;g38770b6ed05_0_2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4" name="Google Shape;1544;g38770b6ed05_0_2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8770b6ed05_0_2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g38770b6ed05_0_2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4" name="Google Shape;1554;g38770b6ed05_0_22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8770b6ed05_0_2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2" name="Google Shape;1562;g38770b6ed05_0_2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3" name="Google Shape;1563;g38770b6ed05_0_2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8770b6ed05_0_2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2" name="Google Shape;1572;g38770b6ed05_0_2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3" name="Google Shape;1573;g38770b6ed05_0_2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8770b6ed05_0_2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1" name="Google Shape;1581;g38770b6ed05_0_2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2" name="Google Shape;1582;g38770b6ed05_0_2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8770b6ed05_0_2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2" name="Google Shape;1592;g38770b6ed05_0_2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3" name="Google Shape;1593;g38770b6ed05_0_22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8770b6ed05_0_2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1" name="Google Shape;1601;g38770b6ed05_0_2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2" name="Google Shape;1602;g38770b6ed05_0_23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38770b6ed05_0_2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0" name="Google Shape;1610;g38770b6ed05_0_2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1" name="Google Shape;1611;g38770b6ed05_0_2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38770b6ed05_0_2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9" name="Google Shape;1619;g38770b6ed05_0_2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0" name="Google Shape;1620;g38770b6ed05_0_23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38770b6ed05_0_23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8" name="Google Shape;1628;g38770b6ed05_0_23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9" name="Google Shape;1629;g38770b6ed05_0_23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38770b6ed05_0_2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7" name="Google Shape;1637;g38770b6ed05_0_2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8" name="Google Shape;1638;g38770b6ed05_0_23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38770b6ed05_0_2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6" name="Google Shape;1646;g38770b6ed05_0_2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7" name="Google Shape;1647;g38770b6ed05_0_2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38770b6ed05_0_2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5" name="Google Shape;1655;g38770b6ed05_0_2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6" name="Google Shape;1656;g38770b6ed05_0_23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8770b6ed05_0_2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5" name="Google Shape;1665;g38770b6ed05_0_2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6" name="Google Shape;1666;g38770b6ed05_0_2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38475f7c0f9_0_15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4" name="Google Shape;1674;g38475f7c0f9_0_15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5" name="Google Shape;1675;g38475f7c0f9_0_15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OBJEC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">
  <p:cSld name="OBJECT_2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Agradecimentos">
  <p:cSld name="CUSTOM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/>
        </p:nvSpPr>
        <p:spPr>
          <a:xfrm>
            <a:off x="1348256" y="1026917"/>
            <a:ext cx="64476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MUITO</a:t>
            </a:r>
            <a:br>
              <a:rPr b="0" i="0" lang="pt-BR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pt-BR" sz="7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OBRIGADO</a:t>
            </a:r>
            <a:endParaRPr b="0" i="0" sz="5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628650" y="234451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" name="Google Shape;72;p17"/>
          <p:cNvSpPr txBox="1"/>
          <p:nvPr>
            <p:ph idx="2" type="subTitle"/>
          </p:nvPr>
        </p:nvSpPr>
        <p:spPr>
          <a:xfrm>
            <a:off x="1827281" y="36454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" name="Google Shape;73;p17"/>
          <p:cNvSpPr txBox="1"/>
          <p:nvPr>
            <p:ph idx="3" type="subTitle"/>
          </p:nvPr>
        </p:nvSpPr>
        <p:spPr>
          <a:xfrm>
            <a:off x="1827281" y="38866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">
  <p:cSld name="SECTION_HEADER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8" name="Google Shape;78;p18"/>
          <p:cNvSpPr txBox="1"/>
          <p:nvPr/>
        </p:nvSpPr>
        <p:spPr>
          <a:xfrm>
            <a:off x="2995662" y="4760051"/>
            <a:ext cx="315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8DC641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Instituto Federal Sul-rio-grandense | câmpus Charqueadas</a:t>
            </a:r>
            <a:endParaRPr b="0" i="0" sz="900" u="none" cap="none" strike="noStrike">
              <a:solidFill>
                <a:srgbClr val="8DC64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628650" y="1646419"/>
            <a:ext cx="3886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DC641"/>
              </a:buClr>
              <a:buSzPts val="1500"/>
              <a:buFont typeface="Arial"/>
              <a:buChar char="➤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Arial"/>
              <a:buChar char="➤"/>
              <a:defRPr b="0" i="0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➤"/>
              <a:defRPr b="0" i="0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57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3" type="body"/>
          </p:nvPr>
        </p:nvSpPr>
        <p:spPr>
          <a:xfrm>
            <a:off x="4694419" y="1646363"/>
            <a:ext cx="3886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DC641"/>
              </a:buClr>
              <a:buSzPts val="1500"/>
              <a:buFont typeface="Arial"/>
              <a:buChar char="➤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Arial"/>
              <a:buChar char="➤"/>
              <a:defRPr b="0" i="0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➤"/>
              <a:defRPr b="0" i="0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57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2">
  <p:cSld name="SECTION_HEADER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1" name="Google Shape;91;p20"/>
          <p:cNvSpPr txBox="1"/>
          <p:nvPr/>
        </p:nvSpPr>
        <p:spPr>
          <a:xfrm>
            <a:off x="2995662" y="4760051"/>
            <a:ext cx="315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8DC641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Instituto Federal Sul-rio-grandense | câmpus Charqueadas</a:t>
            </a:r>
            <a:endParaRPr b="0" i="0" sz="900" u="none" cap="none" strike="noStrike">
              <a:solidFill>
                <a:srgbClr val="8DC64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2">
  <p:cSld name="OBJECT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p2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3">
  <p:cSld name="SECTION_HEADER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3">
  <p:cSld name="OBJECT_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2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4">
  <p:cSld name="SECTION_HEADER_5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4">
  <p:cSld name="OBJECT_5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p2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5">
  <p:cSld name="SECTION_HEADER_6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5">
  <p:cSld name="OBJECT_6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" name="Google Shape;124;p2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1">
  <p:cSld name="OBJECT_2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4.xml"/><Relationship Id="rId3" Type="http://schemas.openxmlformats.org/officeDocument/2006/relationships/hyperlink" Target="https://www.google.com.br" TargetMode="Externa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7.xml"/><Relationship Id="rId3" Type="http://schemas.openxmlformats.org/officeDocument/2006/relationships/hyperlink" Target="http://globo.com" TargetMode="Externa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 Web</a:t>
            </a:r>
            <a:endParaRPr/>
          </a:p>
        </p:txBody>
      </p:sp>
      <p:sp>
        <p:nvSpPr>
          <p:cNvPr id="134" name="Google Shape;134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3</a:t>
            </a:r>
            <a:endParaRPr/>
          </a:p>
        </p:txBody>
      </p:sp>
      <p:sp>
        <p:nvSpPr>
          <p:cNvPr id="135" name="Google Shape;135;p29"/>
          <p:cNvSpPr txBox="1"/>
          <p:nvPr>
            <p:ph idx="1" type="subTitle"/>
          </p:nvPr>
        </p:nvSpPr>
        <p:spPr>
          <a:xfrm>
            <a:off x="304936" y="4310097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Prof. Calebe Conceiç</a:t>
            </a:r>
            <a:r>
              <a:rPr lang="pt-BR" sz="2000">
                <a:solidFill>
                  <a:schemeClr val="dk1"/>
                </a:solidFill>
              </a:rPr>
              <a:t>ão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O que vimos na última aula?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Aprendemos os primeiros passos para desenvolver nossas p</a:t>
            </a:r>
            <a:r>
              <a:rPr lang="pt-BR"/>
              <a:t>áginas web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Conhecemos os ambientes de desenvolvimento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Constru</a:t>
            </a:r>
            <a:r>
              <a:rPr lang="pt-BR"/>
              <a:t>í</a:t>
            </a:r>
            <a:r>
              <a:rPr lang="pt-BR"/>
              <a:t>mos nossas primeiras p</a:t>
            </a:r>
            <a:r>
              <a:rPr lang="pt-BR"/>
              <a:t>áginas com 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Entendemos o que é o DOM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Realizamos práticas simples e enviamos para o servidor, para acesso público</a:t>
            </a:r>
            <a:endParaRPr/>
          </a:p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vamos ver hoje: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Conheceremos alguns dos elementos principais das p</a:t>
            </a:r>
            <a:r>
              <a:rPr lang="pt-BR"/>
              <a:t>áginas web.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	Listas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	Imagens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	Tabelas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	Formul</a:t>
            </a:r>
            <a:r>
              <a:rPr lang="pt-BR"/>
              <a:t>ários</a:t>
            </a:r>
            <a:endParaRPr/>
          </a:p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Listas</a:t>
            </a:r>
            <a:endParaRPr/>
          </a:p>
        </p:txBody>
      </p:sp>
      <p:sp>
        <p:nvSpPr>
          <p:cNvPr id="156" name="Google Shape;156;p3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7" name="Google Shape;157;p3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" name="Google Shape;164;p3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</a:t>
            </a:r>
            <a:endParaRPr/>
          </a:p>
        </p:txBody>
      </p:sp>
      <p:sp>
        <p:nvSpPr>
          <p:cNvPr id="165" name="Google Shape;165;p33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66" name="Google Shape;166;p33"/>
          <p:cNvSpPr txBox="1"/>
          <p:nvPr>
            <p:ph idx="2" type="body"/>
          </p:nvPr>
        </p:nvSpPr>
        <p:spPr>
          <a:xfrm>
            <a:off x="628650" y="1646419"/>
            <a:ext cx="3886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Como vocês já viram em vários sites, existem listas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 ideia de lista é conseguir colocar elementos um abaixo do outro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ordenados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Ordenados</a:t>
            </a:r>
            <a:endParaRPr/>
          </a:p>
        </p:txBody>
      </p:sp>
      <p:pic>
        <p:nvPicPr>
          <p:cNvPr id="167" name="Google Shape;1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0" y="1604569"/>
            <a:ext cx="4324348" cy="299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4" name="Google Shape;174;p3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Listas</a:t>
            </a:r>
            <a:endParaRPr/>
          </a:p>
        </p:txBody>
      </p:sp>
      <p:sp>
        <p:nvSpPr>
          <p:cNvPr id="175" name="Google Shape;175;p34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76" name="Google Shape;176;p34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Vamos criar uma lista de compras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Testem aí</a:t>
            </a:r>
            <a:endParaRPr/>
          </a:p>
        </p:txBody>
      </p:sp>
      <p:sp>
        <p:nvSpPr>
          <p:cNvPr id="177" name="Google Shape;177;p34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4" name="Google Shape;184;p3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ul</a:t>
            </a:r>
            <a:endParaRPr/>
          </a:p>
        </p:txBody>
      </p:sp>
      <p:sp>
        <p:nvSpPr>
          <p:cNvPr id="185" name="Google Shape;185;p35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86" name="Google Shape;186;p35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unordered list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o marcador que cria uma lista não ordenada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os itens da lista vão dentro dele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nesse ponto não temos nada na tela</a:t>
            </a:r>
            <a:endParaRPr/>
          </a:p>
        </p:txBody>
      </p:sp>
      <p:sp>
        <p:nvSpPr>
          <p:cNvPr id="187" name="Google Shape;187;p35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4" name="Google Shape;194;p3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Listas</a:t>
            </a:r>
            <a:endParaRPr/>
          </a:p>
        </p:txBody>
      </p:sp>
      <p:sp>
        <p:nvSpPr>
          <p:cNvPr id="195" name="Google Shape;195;p36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96" name="Google Shape;196;p36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 b="1"/>
          </a:p>
        </p:txBody>
      </p:sp>
      <p:sp>
        <p:nvSpPr>
          <p:cNvPr id="197" name="Google Shape;197;p36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4" name="Google Shape;204;p3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</a:t>
            </a:r>
            <a:endParaRPr/>
          </a:p>
        </p:txBody>
      </p:sp>
      <p:sp>
        <p:nvSpPr>
          <p:cNvPr id="205" name="Google Shape;205;p37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06" name="Google Shape;206;p37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list item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Item da lista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um item da lista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vem com um símbolo que marca os itens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tem dentro dele vai ficar no item</a:t>
            </a:r>
            <a:endParaRPr/>
          </a:p>
        </p:txBody>
      </p:sp>
      <p:sp>
        <p:nvSpPr>
          <p:cNvPr id="207" name="Google Shape;207;p37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4" name="Google Shape;214;p3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</a:t>
            </a:r>
            <a:endParaRPr/>
          </a:p>
        </p:txBody>
      </p:sp>
      <p:sp>
        <p:nvSpPr>
          <p:cNvPr id="215" name="Google Shape;215;p38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16" name="Google Shape;216;p38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Troquem as palavras por imagens dentro das listas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Como fazer isso?</a:t>
            </a:r>
            <a:endParaRPr/>
          </a:p>
        </p:txBody>
      </p:sp>
      <p:sp>
        <p:nvSpPr>
          <p:cNvPr id="217" name="Google Shape;217;p38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4" name="Google Shape;224;p3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</a:t>
            </a:r>
            <a:endParaRPr/>
          </a:p>
        </p:txBody>
      </p:sp>
      <p:sp>
        <p:nvSpPr>
          <p:cNvPr id="225" name="Google Shape;225;p39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26" name="Google Shape;226;p39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Troquem as palavras por imagens dentro das listas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Como fazer isso?</a:t>
            </a:r>
            <a:endParaRPr/>
          </a:p>
        </p:txBody>
      </p:sp>
      <p:sp>
        <p:nvSpPr>
          <p:cNvPr id="227" name="Google Shape;227;p39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&lt;li&gt;&lt;img src="imgs/cafe.png"&gt;&lt;/li&gt;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&lt;li&gt;&lt;img src="imgs/pao.png"&gt;&lt;/li&gt;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&lt;li&gt;&lt;img src="imgs/maio.png"&gt;&lt;/li&gt;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4" name="Google Shape;234;p4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</a:t>
            </a:r>
            <a:endParaRPr/>
          </a:p>
        </p:txBody>
      </p:sp>
      <p:sp>
        <p:nvSpPr>
          <p:cNvPr id="235" name="Google Shape;235;p40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36" name="Google Shape;236;p40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Troquem as palavras por imagens dentro das listas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Como fazer isso?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Agora, ao clicar na imagem abrir o endereço da wikipedia de cada uma das palavras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Como fazer?</a:t>
            </a:r>
            <a:endParaRPr/>
          </a:p>
        </p:txBody>
      </p:sp>
      <p:sp>
        <p:nvSpPr>
          <p:cNvPr id="237" name="Google Shape;237;p40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&lt;li&gt;&lt;img src="imgs/cafe.png"&gt;&lt;/li&gt;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&lt;li&gt;&lt;img src="imgs/pao.png"&gt;&lt;/li&gt;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&lt;li&gt;&lt;img src="imgs/maio.png"&gt;&lt;/li&gt;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4" name="Google Shape;244;p4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</a:t>
            </a:r>
            <a:endParaRPr/>
          </a:p>
        </p:txBody>
      </p:sp>
      <p:sp>
        <p:nvSpPr>
          <p:cNvPr id="245" name="Google Shape;245;p41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46" name="Google Shape;246;p41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Troquem as palavras por imagens dentro das listas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Como fazer isso?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Agora, ao clicar na imagem abrir o endereço da wikipedia de cada uma das palavras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Como fazer?</a:t>
            </a:r>
            <a:endParaRPr/>
          </a:p>
        </p:txBody>
      </p:sp>
      <p:sp>
        <p:nvSpPr>
          <p:cNvPr id="247" name="Google Shape;247;p41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&lt;li&gt;&lt;a href="https://pt.wikipedia.org/wiki/Caf%C3%A9"&gt;&lt;img src="imgs/cafe.png"&gt;&lt;/a&gt;&lt;/li&gt;</a:t>
            </a:r>
            <a:endParaRPr b="1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&lt;li&gt;&lt;a href="https://pt.wikipedia.org/wiki/P%C3%A3o"&gt;&lt;img src="imgs/pao.png"&gt;&lt;/a&gt;&lt;/li&gt;</a:t>
            </a:r>
            <a:endParaRPr b="1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&lt;li&gt;&lt;a href="https://pt.wikipedia.org/wiki/Maionese"&gt;&lt;img src="imgs/maio.png"&gt;&lt;/a&gt;&lt;/li&gt;</a:t>
            </a:r>
            <a:endParaRPr b="1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4" name="Google Shape;254;p4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Listas</a:t>
            </a:r>
            <a:endParaRPr/>
          </a:p>
        </p:txBody>
      </p:sp>
      <p:sp>
        <p:nvSpPr>
          <p:cNvPr id="255" name="Google Shape;255;p42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56" name="Google Shape;256;p42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257" name="Google Shape;257;p42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&lt;ol&gt;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b="0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4" name="Google Shape;264;p4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ol</a:t>
            </a:r>
            <a:endParaRPr/>
          </a:p>
        </p:txBody>
      </p:sp>
      <p:sp>
        <p:nvSpPr>
          <p:cNvPr id="265" name="Google Shape;265;p43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66" name="Google Shape;266;p43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ordered list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lista ordenada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só trocar o ul por ol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unordered por ordered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agora apareceram números no lugar dos símbolos</a:t>
            </a:r>
            <a:endParaRPr/>
          </a:p>
        </p:txBody>
      </p:sp>
      <p:sp>
        <p:nvSpPr>
          <p:cNvPr id="267" name="Google Shape;267;p43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&lt;ol&gt;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b="0" i="0" sz="1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4" name="Google Shape;274;p4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Listas</a:t>
            </a:r>
            <a:endParaRPr/>
          </a:p>
        </p:txBody>
      </p:sp>
      <p:sp>
        <p:nvSpPr>
          <p:cNvPr id="275" name="Google Shape;275;p44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76" name="Google Shape;276;p44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 b="1"/>
          </a:p>
        </p:txBody>
      </p:sp>
      <p:sp>
        <p:nvSpPr>
          <p:cNvPr id="277" name="Google Shape;277;p44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&lt;ol type="I"&gt;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&lt;li&gt;Cachaça&lt;/li&gt;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type</a:t>
            </a:r>
            <a:endParaRPr/>
          </a:p>
        </p:txBody>
      </p:sp>
      <p:sp>
        <p:nvSpPr>
          <p:cNvPr id="285" name="Google Shape;285;p45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86" name="Google Shape;286;p45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Atributo type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tipo de lista ordenada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 u="sng"/>
              <a:t>só vale para lista ordenada</a:t>
            </a:r>
            <a:endParaRPr u="sng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alterou para algarismos romanos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não vai só colocando I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I, II, III, IV, ...</a:t>
            </a:r>
            <a:endParaRPr/>
          </a:p>
        </p:txBody>
      </p:sp>
      <p:sp>
        <p:nvSpPr>
          <p:cNvPr id="287" name="Google Shape;287;p45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&lt;ol type="I"&gt;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&lt;li&gt;Cachaça&lt;/li&gt;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" name="Google Shape;294;p4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type</a:t>
            </a:r>
            <a:endParaRPr/>
          </a:p>
        </p:txBody>
      </p:sp>
      <p:sp>
        <p:nvSpPr>
          <p:cNvPr id="295" name="Google Shape;295;p46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296" name="Google Shape;296;p46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Atributo type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variações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type="1"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type="a" ou type="A"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type="i" ou type="I"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testem aí alguns tipos diferentes</a:t>
            </a:r>
            <a:endParaRPr/>
          </a:p>
        </p:txBody>
      </p:sp>
      <p:sp>
        <p:nvSpPr>
          <p:cNvPr id="297" name="Google Shape;297;p46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&lt;ol type="I"&gt;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&lt;li&gt;Cachaça&lt;/li&gt;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4" name="Google Shape;304;p4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start</a:t>
            </a:r>
            <a:endParaRPr/>
          </a:p>
        </p:txBody>
      </p:sp>
      <p:sp>
        <p:nvSpPr>
          <p:cNvPr id="305" name="Google Shape;305;p47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06" name="Google Shape;306;p47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Atributo start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define em que número que começa a lista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começa em 10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e assim vai</a:t>
            </a:r>
            <a:endParaRPr b="1"/>
          </a:p>
        </p:txBody>
      </p:sp>
      <p:sp>
        <p:nvSpPr>
          <p:cNvPr id="307" name="Google Shape;307;p47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&lt;ol type="I"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start="10"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&lt;li&gt;Café&lt;/li&gt;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&lt;li&gt;Pão&lt;/li&gt;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&lt;li&gt;Maionese&lt;/li&gt;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&lt;li&gt;Cachaça&lt;/li&gt;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4" name="Google Shape;314;p4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</a:t>
            </a:r>
            <a:endParaRPr/>
          </a:p>
        </p:txBody>
      </p:sp>
      <p:sp>
        <p:nvSpPr>
          <p:cNvPr id="315" name="Google Shape;315;p48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16" name="Google Shape;316;p48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317" name="Google Shape;317;p48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4" name="Google Shape;324;p4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dl</a:t>
            </a:r>
            <a:endParaRPr/>
          </a:p>
        </p:txBody>
      </p:sp>
      <p:sp>
        <p:nvSpPr>
          <p:cNvPr id="325" name="Google Shape;325;p49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26" name="Google Shape;326;p49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description list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lista de descrições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usada para detalhar um tópico logo em seguida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outro tipo de lista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não faz nada até agora</a:t>
            </a:r>
            <a:endParaRPr/>
          </a:p>
        </p:txBody>
      </p:sp>
      <p:sp>
        <p:nvSpPr>
          <p:cNvPr id="327" name="Google Shape;327;p49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&lt;dl&gt;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4" name="Google Shape;334;p5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</a:t>
            </a:r>
            <a:endParaRPr/>
          </a:p>
        </p:txBody>
      </p:sp>
      <p:sp>
        <p:nvSpPr>
          <p:cNvPr id="335" name="Google Shape;335;p50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36" name="Google Shape;336;p50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337" name="Google Shape;337;p50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&lt;dt&gt;Café&lt;/dt&gt;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&lt;dt&gt;Pão&lt;/dt&gt;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&lt;dt&gt;Maionese&lt;/dt&gt;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&lt;dt&gt;Cachaça&lt;/dt&gt;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4" name="Google Shape;344;p5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chemeClr val="lt1"/>
                </a:solidFill>
              </a:rPr>
              <a:t>dt</a:t>
            </a:r>
            <a:endParaRPr/>
          </a:p>
        </p:txBody>
      </p:sp>
      <p:sp>
        <p:nvSpPr>
          <p:cNvPr id="345" name="Google Shape;345;p51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definition term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termo a definir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coloca o termo a ser definido/detalhado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da forma que tá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tá igual a ul</a:t>
            </a:r>
            <a:endParaRPr/>
          </a:p>
        </p:txBody>
      </p:sp>
      <p:sp>
        <p:nvSpPr>
          <p:cNvPr id="347" name="Google Shape;347;p51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&lt;dt&gt;Café&lt;/dt&gt;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&lt;dt&gt;Pão&lt;/dt&gt;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&lt;dt&gt;Maionese&lt;/dt&gt;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&lt;dt&gt;Cachaça&lt;/dt&gt;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4" name="Google Shape;354;p5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Lista</a:t>
            </a:r>
            <a:endParaRPr/>
          </a:p>
        </p:txBody>
      </p:sp>
      <p:sp>
        <p:nvSpPr>
          <p:cNvPr id="355" name="Google Shape;355;p52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56" name="Google Shape;356;p52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357" name="Google Shape;357;p52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&lt;dt&gt;Café&lt;/dt&gt;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&lt;dd&gt;Quente e com leite.&lt;/dd&gt;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&lt;dt&gt;Pão&lt;/dt&gt;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&lt;dd&gt;Fatiado integral&lt;/dd&gt;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&lt;dt&gt;Maionese&lt;/dt&gt;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&lt;dd&gt;Vegana, sem gluten, sem gosto, sem nada&lt;/dd&gt;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&lt;dt&gt;Cachaça&lt;/dt&gt;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&lt;dd&gt;Pura!&lt;/dd&gt;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4" name="Google Shape;364;p5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dd</a:t>
            </a:r>
            <a:endParaRPr/>
          </a:p>
        </p:txBody>
      </p:sp>
      <p:sp>
        <p:nvSpPr>
          <p:cNvPr id="365" name="Google Shape;365;p53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66" name="Google Shape;366;p53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definition description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descrição da definição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termo que fica formatado para dentro do dt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explica o dt</a:t>
            </a:r>
            <a:endParaRPr/>
          </a:p>
        </p:txBody>
      </p:sp>
      <p:sp>
        <p:nvSpPr>
          <p:cNvPr id="367" name="Google Shape;367;p53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Lista de compras 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&lt;dt&gt;Café&lt;/dt&gt;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&lt;dd&gt;Quente e com leite.&lt;/dd&gt;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&lt;dt&gt;Pão&lt;/dt&gt;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&lt;dd&gt;Fatiado integral&lt;/dd&gt;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&lt;dt&gt;Maionese&lt;/dt&gt;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&lt;dd&gt;Vegana, sem gluten, sem gosto, sem nada&lt;/dd&gt;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&lt;dt&gt;Cachaça&lt;/dt&gt;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&lt;dd&gt;Pura!&lt;/dd&gt;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&lt;/dl&gt;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Imagens</a:t>
            </a:r>
            <a:endParaRPr/>
          </a:p>
        </p:txBody>
      </p:sp>
      <p:sp>
        <p:nvSpPr>
          <p:cNvPr id="374" name="Google Shape;374;p5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75" name="Google Shape;375;p5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imagens na página</a:t>
            </a:r>
            <a:endParaRPr/>
          </a:p>
        </p:txBody>
      </p:sp>
      <p:sp>
        <p:nvSpPr>
          <p:cNvPr id="382" name="Google Shape;382;p5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Todas as páginas que acessamos tem imagens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Então temos que colocar imagens nas nossas páginas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Criem uma pasta </a:t>
            </a:r>
            <a:r>
              <a:rPr b="1" lang="pt-BR"/>
              <a:t>imgs </a:t>
            </a:r>
            <a:r>
              <a:rPr lang="pt-BR"/>
              <a:t>dentro do projeto de página de vocês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Nessa pasta vão ir todas as imagens que vamos usar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Cuidar para salvar as imagens nesta pasta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83" name="Google Shape;383;p5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4" name="Google Shape;384;p5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imagens na página</a:t>
            </a:r>
            <a:endParaRPr/>
          </a:p>
        </p:txBody>
      </p:sp>
      <p:sp>
        <p:nvSpPr>
          <p:cNvPr id="391" name="Google Shape;391;p5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Todas as páginas que acessamos tem imagens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Acessem o Google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Cliquem em imagens ⇒ Ferramentas ⇒ tamanho ⇒ médio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Procurem por alguma imagem que vocês queiram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Salvem essa imagem na pasta </a:t>
            </a:r>
            <a:r>
              <a:rPr b="1" lang="pt-BR"/>
              <a:t>imgs </a:t>
            </a:r>
            <a:r>
              <a:rPr lang="pt-BR"/>
              <a:t>(segundo botão do mouse)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Com o nome </a:t>
            </a:r>
            <a:r>
              <a:rPr b="1" lang="pt-BR"/>
              <a:t>imagem1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92" name="Google Shape;392;p5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3" name="Google Shape;393;p5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00" name="Google Shape;400;p5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Marcador para inserir uma imagem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inserir o código abaixo em um nova página html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dentro do &lt;body&gt;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&lt;img src=”imgs/imagem1.jpg” &gt;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verifiquem se a imagem aparece corretamente no navegador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01" name="Google Shape;401;p5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2" name="Google Shape;402;p5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09" name="Google Shape;409;p5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Courier New"/>
              <a:buChar char="➤"/>
            </a:pP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um marcador que não precisa ser fechado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&lt;img &gt;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um atributo que define onde está a imagem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src ⇒ source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vai o caminho de onde está a imagem a ser exibida</a:t>
            </a:r>
            <a:endParaRPr/>
          </a:p>
        </p:txBody>
      </p:sp>
      <p:sp>
        <p:nvSpPr>
          <p:cNvPr id="410" name="Google Shape;410;p5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1" name="Google Shape;411;p5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18" name="Google Shape;418;p5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Courier New"/>
              <a:buChar char="➤"/>
            </a:pP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alterando o conteúdo do </a:t>
            </a:r>
            <a:r>
              <a:rPr b="1" lang="pt-BR"/>
              <a:t>src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altera a imagem que exibimos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b="1" lang="pt-BR"/>
              <a:t>Peguem outra imagem </a:t>
            </a:r>
            <a:endParaRPr b="1"/>
          </a:p>
          <a:p>
            <a:pPr indent="-222250" lvl="4" marL="1714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➤"/>
            </a:pPr>
            <a:r>
              <a:rPr b="1" lang="pt-BR"/>
              <a:t>salvem como imagem2.jpg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b="1" lang="pt-BR"/>
              <a:t>Coloquem na pasta imgs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b="1" lang="pt-BR"/>
              <a:t>troquem o conteúdo do src para mostrar a imagem2.jpg</a:t>
            </a:r>
            <a:endParaRPr b="1"/>
          </a:p>
        </p:txBody>
      </p:sp>
      <p:sp>
        <p:nvSpPr>
          <p:cNvPr id="419" name="Google Shape;419;p5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0" name="Google Shape;420;p5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27" name="Google Shape;427;p6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Testem no navegador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&lt;img src="imgs/imagem1.jpg" </a:t>
            </a:r>
            <a:r>
              <a:rPr b="1" lang="pt-BR"/>
              <a:t>alt="Texto alternativo!" </a:t>
            </a:r>
            <a:r>
              <a:rPr lang="pt-BR"/>
              <a:t>&gt;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um atributo novo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alt </a:t>
            </a:r>
            <a:r>
              <a:rPr lang="pt-BR"/>
              <a:t>⇒ alternative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alternativo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b="1" lang="pt-BR"/>
              <a:t>define o texto que aparece caso de problema na figura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28" name="Google Shape;428;p6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9" name="Google Shape;429;p6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36" name="Google Shape;436;p6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Testem no navegador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&lt;img src=”caminhoerrado.jpg” alt=”Texto alternativo!” &gt;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um atributo novo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 que aconteceu?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37" name="Google Shape;437;p6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8" name="Google Shape;438;p6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45" name="Google Shape;445;p6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alt ⇒ </a:t>
            </a:r>
            <a:r>
              <a:rPr lang="pt-BR"/>
              <a:t>alternative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importante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mesmo quando a página carrega certo…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Porque?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46" name="Google Shape;446;p6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7" name="Google Shape;447;p6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54" name="Google Shape;454;p6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alt ⇒ </a:t>
            </a:r>
            <a:r>
              <a:rPr lang="pt-BR"/>
              <a:t>alternative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importante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mesmo quando a página carrega certo…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Porque?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b="1" lang="pt-BR"/>
              <a:t>principalmente para pessoa que não enxerga </a:t>
            </a:r>
            <a:endParaRPr b="1"/>
          </a:p>
          <a:p>
            <a:pPr indent="-222250" lvl="4" marL="1714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➤"/>
            </a:pPr>
            <a:r>
              <a:rPr lang="pt-BR"/>
              <a:t>usam leitores de tela</a:t>
            </a:r>
            <a:endParaRPr/>
          </a:p>
          <a:p>
            <a:pPr indent="-222250" lvl="4" marL="1714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➤"/>
            </a:pPr>
            <a:r>
              <a:rPr lang="pt-BR"/>
              <a:t>o texto do alt é lido para ele explicando o que tem na tela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55" name="Google Shape;455;p6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6" name="Google Shape;456;p6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63" name="Google Shape;463;p6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Atualizar o código da imagem para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alt=”Texto quando da erro!”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width=”100”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mudou?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64" name="Google Shape;464;p6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5" name="Google Shape;465;p6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72" name="Google Shape;472;p6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Atualizar o código da imagem para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alt=”Texto quando da erro!”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width=”100”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mudou?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A imagem ficou com uma largura específica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73" name="Google Shape;473;p6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4" name="Google Shape;474;p6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81" name="Google Shape;481;p6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Atributo width ⇒ largura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o número de pixels que a imagem vai ocupar de largura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pixel é a unidade de medida da tela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possivelmente a tela de vocês tem 1080 pixels de largura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 colocamos </a:t>
            </a:r>
            <a:r>
              <a:rPr b="1" lang="pt-BR"/>
              <a:t>width=”100”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quer dizer que a largura da imagem será de 100 pixels</a:t>
            </a:r>
            <a:endParaRPr/>
          </a:p>
        </p:txBody>
      </p:sp>
      <p:sp>
        <p:nvSpPr>
          <p:cNvPr id="482" name="Google Shape;482;p6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3" name="Google Shape;483;p6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90" name="Google Shape;490;p6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Atributo width ⇒ largura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html encolhe a figura proporcionalmente a altura também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 temos uma figura de 400 pixels de largura e 500 altura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colocamos width=”100”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a altura passa para 125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então a imagem passa a ter </a:t>
            </a:r>
            <a:endParaRPr/>
          </a:p>
          <a:p>
            <a:pPr indent="-222250" lvl="4" marL="17145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900"/>
              <a:buChar char="➤"/>
            </a:pPr>
            <a:r>
              <a:rPr lang="pt-BR"/>
              <a:t>100 pixels de largura e 125 altura automaticamente</a:t>
            </a:r>
            <a:endParaRPr/>
          </a:p>
        </p:txBody>
      </p:sp>
      <p:sp>
        <p:nvSpPr>
          <p:cNvPr id="491" name="Google Shape;491;p6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2" name="Google Shape;492;p6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499" name="Google Shape;499;p6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Atualizar o código da imagem para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Font typeface="Courier New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alt=”Texto quando da erro!”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height=”100”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mudou?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500" name="Google Shape;500;p6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1" name="Google Shape;501;p6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508" name="Google Shape;508;p6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Atualizar o código da imagem para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Font typeface="Courier New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alt=”Texto quando da erro!”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height=”100”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mudou?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A imagem ficou com uma altura específica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509" name="Google Shape;509;p6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0" name="Google Shape;510;p6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517" name="Google Shape;517;p7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Atributo height ⇒ altura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o número de pixels que a imagem vai ocupar de altura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pixel é a unidade de medida da tela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possivelmente a tela de vocês tem 1080 pixels de largura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 colocamos </a:t>
            </a:r>
            <a:r>
              <a:rPr b="1" lang="pt-BR"/>
              <a:t>height=”100”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quer dizer que a altura da imagem será de 100 pixels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518" name="Google Shape;518;p7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9" name="Google Shape;519;p7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526" name="Google Shape;526;p7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Atributo height ⇒ altura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html encolhe a figura proporcionalmente a largura também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 temos uma figura de 400 pixels de largura e 500 altura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colocamos height=”100”</a:t>
            </a:r>
            <a:endParaRPr/>
          </a:p>
          <a:p>
            <a:pPr indent="-23495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a largura passa para 80</a:t>
            </a:r>
            <a:endParaRPr/>
          </a:p>
          <a:p>
            <a:pPr indent="-23495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então a imagem passa a ter </a:t>
            </a:r>
            <a:endParaRPr/>
          </a:p>
          <a:p>
            <a:pPr indent="-222250" lvl="4" marL="17145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➤"/>
            </a:pPr>
            <a:r>
              <a:rPr lang="pt-BR"/>
              <a:t>80 pixels de largura e 100 altura automaticamente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527" name="Google Shape;527;p7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8" name="Google Shape;528;p7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535" name="Google Shape;535;p7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Atualizar o código da imagem para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Font typeface="Courier New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alt=”Texto quando da erro!”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height=”50” width=”50”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536" name="Google Shape;536;p7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7" name="Google Shape;537;p7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544" name="Google Shape;544;p7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Atualizar o código da imagem para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Font typeface="Courier New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alt=”Texto quando da erro!”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height=”50” width=”50”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a imagem ficou com 50 de altura e 50 de largura</a:t>
            </a:r>
            <a:endParaRPr/>
          </a:p>
        </p:txBody>
      </p:sp>
      <p:sp>
        <p:nvSpPr>
          <p:cNvPr id="545" name="Google Shape;545;p7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6" name="Google Shape;546;p7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553" name="Google Shape;553;p7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Se colocarmos height e width juntos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tamanho fica fixo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 imagem pode ficar distorcida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se colocarmos tamanho “errados”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para maior também vale</a:t>
            </a:r>
            <a:endParaRPr/>
          </a:p>
        </p:txBody>
      </p:sp>
      <p:sp>
        <p:nvSpPr>
          <p:cNvPr id="554" name="Google Shape;554;p7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5" name="Google Shape;555;p7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img ⇒ imagem</a:t>
            </a:r>
            <a:endParaRPr/>
          </a:p>
        </p:txBody>
      </p:sp>
      <p:sp>
        <p:nvSpPr>
          <p:cNvPr id="562" name="Google Shape;562;p7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Testem no navegador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src=”imgs/imagem1.jpg” alt=”Texto quando da erro!”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height=”1000” width=”1000”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3" name="Google Shape;563;p7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4" name="Google Shape;564;p7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imagens na página</a:t>
            </a:r>
            <a:endParaRPr/>
          </a:p>
        </p:txBody>
      </p:sp>
      <p:sp>
        <p:nvSpPr>
          <p:cNvPr id="571" name="Google Shape;571;p7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Como fazer para colocar uma imagem do lado da outra?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2" name="Google Shape;572;p7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3" name="Google Shape;573;p7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imagens na página</a:t>
            </a:r>
            <a:endParaRPr/>
          </a:p>
        </p:txBody>
      </p:sp>
      <p:sp>
        <p:nvSpPr>
          <p:cNvPr id="580" name="Google Shape;580;p7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Como fazer para colocar uma imagem do lado da outra?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Colocar um marcador seguido do outro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Font typeface="Courier New"/>
              <a:buChar char="➤"/>
            </a:pP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src=”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imgs/imagem1.jpg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” alt=”Texto da imagem 1!” width=”100”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br>
              <a:rPr b="1" lang="pt-BR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src=”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imgs/imagem2.jpg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” alt=”Texto da imagem 2!” width=”100”&gt;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1" name="Google Shape;581;p7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2" name="Google Shape;582;p7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imagens na página</a:t>
            </a:r>
            <a:endParaRPr/>
          </a:p>
        </p:txBody>
      </p:sp>
      <p:sp>
        <p:nvSpPr>
          <p:cNvPr id="589" name="Google Shape;589;p7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Como fazer para colocar uma imagem embaixo da outra?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0" name="Google Shape;590;p7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1" name="Google Shape;591;p7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imagens na página</a:t>
            </a:r>
            <a:endParaRPr/>
          </a:p>
        </p:txBody>
      </p:sp>
      <p:sp>
        <p:nvSpPr>
          <p:cNvPr id="598" name="Google Shape;598;p7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Como fazer para colocar uma imagem embaixo da outra?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Colocar um &lt;br&gt; entre as imagens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Font typeface="Courier New"/>
              <a:buChar char="➤"/>
            </a:pP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src=”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imgs/imagem1.jpg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” alt=”Texto da imagem 1!” width=”100”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br>
              <a:rPr b="1" lang="pt-BR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&lt;br&gt; </a:t>
            </a:r>
            <a:br>
              <a:rPr b="1" lang="pt-BR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src=”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imgs/imagem2.jpg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” alt=”Texto da imagem 2!” width=”100”&gt;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9" name="Google Shape;599;p7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0" name="Google Shape;600;p7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imagens na página</a:t>
            </a:r>
            <a:endParaRPr/>
          </a:p>
        </p:txBody>
      </p:sp>
      <p:sp>
        <p:nvSpPr>
          <p:cNvPr id="607" name="Google Shape;607;p8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Como fazer para fazer com que ao clicar em uma imagem ir para outra página?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8" name="Google Shape;608;p8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9" name="Google Shape;609;p8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Colocar links nas imagens</a:t>
            </a:r>
            <a:endParaRPr/>
          </a:p>
        </p:txBody>
      </p:sp>
      <p:sp>
        <p:nvSpPr>
          <p:cNvPr id="616" name="Google Shape;616;p8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Como fazer para colocar uma imagem embaixo da outra?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olocar um o &lt;</a:t>
            </a:r>
            <a:r>
              <a:rPr b="1" lang="pt-BR"/>
              <a:t>img&gt; entre &lt;a&gt; &lt;/a&gt;</a:t>
            </a:r>
            <a:r>
              <a:rPr lang="pt-BR"/>
              <a:t> entre as imagens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Font typeface="Courier New"/>
              <a:buChar char="➤"/>
            </a:pP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&lt;a href=”http://www.ifsul.edu.br”&gt; </a:t>
            </a:r>
            <a:br>
              <a:rPr b="1" lang="pt-BR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&lt;img src=”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imgs/imagem1.jpg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” alt=”Texto da imagem 1!” width=”100”&gt; </a:t>
            </a:r>
            <a:br>
              <a:rPr b="1" lang="pt-BR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7" name="Google Shape;617;p8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8" name="Google Shape;618;p8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625" name="Google Shape;625;p8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26" name="Google Shape;626;p8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3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3" name="Google Shape;633;p83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634" name="Google Shape;634;p83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35" name="Google Shape;635;p83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Bastante frequentes para organizar o conteúdo de uma página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Obviamente tem linhas e colunas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E tem células que são os conteúdos do par linha e coluna</a:t>
            </a:r>
            <a:endParaRPr/>
          </a:p>
        </p:txBody>
      </p:sp>
      <p:pic>
        <p:nvPicPr>
          <p:cNvPr id="636" name="Google Shape;636;p83"/>
          <p:cNvPicPr preferRelativeResize="0"/>
          <p:nvPr/>
        </p:nvPicPr>
        <p:blipFill rotWithShape="1">
          <a:blip r:embed="rId3">
            <a:alphaModFix/>
          </a:blip>
          <a:srcRect b="0" l="20534" r="22173" t="6907"/>
          <a:stretch/>
        </p:blipFill>
        <p:spPr>
          <a:xfrm>
            <a:off x="4904835" y="1675444"/>
            <a:ext cx="3937328" cy="269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4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3" name="Google Shape;643;p84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644" name="Google Shape;644;p84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45" name="Google Shape;645;p84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Tabelas devem ser usadas para casos em </a:t>
            </a:r>
            <a:r>
              <a:rPr b="1" lang="pt-BR"/>
              <a:t>que existem dados a serem tabulados!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é para usar loucamente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em 2000-2005 era um problema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os desenvolvedores não tinham </a:t>
            </a:r>
            <a:endParaRPr/>
          </a:p>
        </p:txBody>
      </p:sp>
      <p:pic>
        <p:nvPicPr>
          <p:cNvPr id="646" name="Google Shape;646;p84"/>
          <p:cNvPicPr preferRelativeResize="0"/>
          <p:nvPr/>
        </p:nvPicPr>
        <p:blipFill rotWithShape="1">
          <a:blip r:embed="rId3">
            <a:alphaModFix/>
          </a:blip>
          <a:srcRect b="0" l="20534" r="22173" t="6907"/>
          <a:stretch/>
        </p:blipFill>
        <p:spPr>
          <a:xfrm>
            <a:off x="4904835" y="1675444"/>
            <a:ext cx="3937328" cy="269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5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3" name="Google Shape;653;p85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654" name="Google Shape;654;p85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55" name="Google Shape;655;p85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656" name="Google Shape;656;p85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6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3" name="Google Shape;663;p86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664" name="Google Shape;664;p86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65" name="Google Shape;665;p86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acontece?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aparece nada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Marcadores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Abrir e fechar</a:t>
            </a:r>
            <a:endParaRPr/>
          </a:p>
        </p:txBody>
      </p:sp>
      <p:sp>
        <p:nvSpPr>
          <p:cNvPr id="666" name="Google Shape;666;p86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7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3" name="Google Shape;673;p87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674" name="Google Shape;674;p87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75" name="Google Shape;675;p87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acontece?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Ainda nada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tr ⇒ table row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linha de tabela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criou uma linha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mas não tem nada dentro</a:t>
            </a:r>
            <a:endParaRPr/>
          </a:p>
        </p:txBody>
      </p:sp>
      <p:sp>
        <p:nvSpPr>
          <p:cNvPr id="676" name="Google Shape;676;p87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8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3" name="Google Shape;683;p88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684" name="Google Shape;684;p88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85" name="Google Shape;685;p88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686" name="Google Shape;686;p88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&lt;td&gt; Linha1,Coluna1 &lt;/td&gt;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Linha1,Coluna2?&lt;/td&gt;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9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3" name="Google Shape;693;p89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694" name="Google Shape;694;p89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95" name="Google Shape;695;p89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acontece?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td ⇒ table data cell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célula de dados da tabela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é um elemento da tabela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um par linha, coluna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fica dentro do </a:t>
            </a:r>
            <a:r>
              <a:rPr b="1" lang="pt-BR"/>
              <a:t>tr</a:t>
            </a:r>
            <a:endParaRPr b="1"/>
          </a:p>
        </p:txBody>
      </p:sp>
      <p:sp>
        <p:nvSpPr>
          <p:cNvPr id="696" name="Google Shape;696;p89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&lt;td&gt; Linha1,Coluna1 &lt;/td&gt;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Linha1,Coluna2?&lt;/td&gt;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0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03" name="Google Shape;703;p90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04" name="Google Shape;704;p90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05" name="Google Shape;705;p90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Como que eu faço para adicionar mais uma linha?</a:t>
            </a:r>
            <a:endParaRPr b="1"/>
          </a:p>
        </p:txBody>
      </p:sp>
      <p:sp>
        <p:nvSpPr>
          <p:cNvPr id="706" name="Google Shape;706;p90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Linha1,Coluna2?&lt;/td&gt;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1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3" name="Google Shape;713;p91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14" name="Google Shape;714;p91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15" name="Google Shape;715;p91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Como que eu faço para adicionar mais uma linha?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Adicionar um </a:t>
            </a:r>
            <a:r>
              <a:rPr b="1" lang="pt-BR"/>
              <a:t>tr </a:t>
            </a:r>
            <a:r>
              <a:rPr lang="pt-BR"/>
              <a:t>dentro da tabela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Cria mais uma linha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e se eu quiser mais uma linha?</a:t>
            </a:r>
            <a:endParaRPr/>
          </a:p>
        </p:txBody>
      </p:sp>
      <p:sp>
        <p:nvSpPr>
          <p:cNvPr id="716" name="Google Shape;716;p91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Linha1,Coluna2?&lt;/td&gt;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Linha2,Coluna2&lt;/td&gt;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92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3" name="Google Shape;723;p92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24" name="Google Shape;724;p92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25" name="Google Shape;725;p92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Como que eu faço para adicionar mais uma linha?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Adicionar um </a:t>
            </a:r>
            <a:r>
              <a:rPr b="1" lang="pt-BR"/>
              <a:t>tr </a:t>
            </a:r>
            <a:r>
              <a:rPr lang="pt-BR"/>
              <a:t>dentro da tabela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Cria mais uma linha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 se eu quiser mais uma linha?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e assim vai...</a:t>
            </a:r>
            <a:endParaRPr/>
          </a:p>
        </p:txBody>
      </p:sp>
      <p:sp>
        <p:nvSpPr>
          <p:cNvPr id="726" name="Google Shape;726;p92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Linha1,Coluna2?&lt;/td&gt;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Linha1,Coluna2?&lt;/td&gt;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Linha2,Coluna2&lt;/td&gt;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3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3" name="Google Shape;733;p93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34" name="Google Shape;734;p93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35" name="Google Shape;735;p93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 se eu fizer essa tabela?</a:t>
            </a:r>
            <a:endParaRPr/>
          </a:p>
        </p:txBody>
      </p:sp>
      <p:sp>
        <p:nvSpPr>
          <p:cNvPr id="736" name="Google Shape;736;p93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Linha1,Coluna3&lt;/td&gt;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94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3" name="Google Shape;743;p94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44" name="Google Shape;744;p94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45" name="Google Shape;745;p94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que acontece se eu fizer essa tabela?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Ficam os espaços vazios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Sempre vale o maior número de tds dentro das linhas de uma tabela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no caso 3 da primeira linha</a:t>
            </a:r>
            <a:endParaRPr/>
          </a:p>
        </p:txBody>
      </p:sp>
      <p:sp>
        <p:nvSpPr>
          <p:cNvPr id="746" name="Google Shape;746;p94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Linha1,Coluna3&lt;/td&gt;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5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3" name="Google Shape;753;p95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54" name="Google Shape;754;p95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55" name="Google Shape;755;p95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 se eu fizer essa tabela?</a:t>
            </a:r>
            <a:endParaRPr/>
          </a:p>
        </p:txBody>
      </p:sp>
      <p:sp>
        <p:nvSpPr>
          <p:cNvPr id="756" name="Google Shape;756;p95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Linha1,Coluna3&lt;/td&gt;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6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63" name="Google Shape;763;p96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64" name="Google Shape;764;p96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65" name="Google Shape;765;p96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que acontece se eu fizer essa tabela?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Ficam espaços vazios também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Só que no meio da tabela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Os tds vazios ficam vazios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Tem de colocar eles para caso queiramos uma alinhamento dos seguintes...</a:t>
            </a:r>
            <a:endParaRPr/>
          </a:p>
        </p:txBody>
      </p:sp>
      <p:sp>
        <p:nvSpPr>
          <p:cNvPr id="766" name="Google Shape;766;p96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Linha1,Coluna3&lt;/td&gt;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7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3" name="Google Shape;773;p97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74" name="Google Shape;774;p97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75" name="Google Shape;775;p97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esse outro tipo de linha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 aí?</a:t>
            </a:r>
            <a:endParaRPr/>
          </a:p>
        </p:txBody>
      </p:sp>
      <p:sp>
        <p:nvSpPr>
          <p:cNvPr id="776" name="Google Shape;776;p97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Coluna1 &lt;/th&gt;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&lt;/th&gt;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98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3" name="Google Shape;783;p98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84" name="Google Shape;784;p98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85" name="Google Shape;785;p98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esse outro tipo de linha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aconteceu aí?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th ⇒ table header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cabeçalho de tabela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tem uma formatação diferente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centralizado e negrito </a:t>
            </a:r>
            <a:endParaRPr/>
          </a:p>
        </p:txBody>
      </p:sp>
      <p:sp>
        <p:nvSpPr>
          <p:cNvPr id="786" name="Google Shape;786;p98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Coluna1 &lt;/th&gt;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&lt;/th&gt;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99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3" name="Google Shape;793;p99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794" name="Google Shape;794;p99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95" name="Google Shape;795;p99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esse outro tipo de linha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 aí?</a:t>
            </a:r>
            <a:endParaRPr/>
          </a:p>
        </p:txBody>
      </p:sp>
      <p:sp>
        <p:nvSpPr>
          <p:cNvPr id="796" name="Google Shape;796;p99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&lt;caption&gt; Tabela de teste &lt;/caption&gt;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0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3" name="Google Shape;803;p100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804" name="Google Shape;804;p100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05" name="Google Shape;805;p100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esse outro tipo de linha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aconteceu aí?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caption ⇒ legenda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Coloca uma legenda como em tabelas normais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Tem de aparecer logo depois do &lt;table&gt;</a:t>
            </a:r>
            <a:endParaRPr/>
          </a:p>
        </p:txBody>
      </p:sp>
      <p:sp>
        <p:nvSpPr>
          <p:cNvPr id="806" name="Google Shape;806;p100"/>
          <p:cNvSpPr txBox="1"/>
          <p:nvPr/>
        </p:nvSpPr>
        <p:spPr>
          <a:xfrm>
            <a:off x="4514850" y="0"/>
            <a:ext cx="4629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&lt;caption&gt; Tabela de teste &lt;/caption&gt;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0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813" name="Google Shape;813;p10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Atributos de tabelas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Vão ver tabelas com width, height, color, …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Tem vários atributos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(quase) Todos passaram a não ser suportados pelo HTML5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Ou seja, não é recomendável mais fazer no html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deixar essas coisas para os estilos do CSSs</a:t>
            </a:r>
            <a:endParaRPr/>
          </a:p>
        </p:txBody>
      </p:sp>
      <p:sp>
        <p:nvSpPr>
          <p:cNvPr id="814" name="Google Shape;814;p10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5" name="Google Shape;815;p10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Criar uma tabela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Visualização de banco de dados</a:t>
            </a:r>
            <a:endParaRPr/>
          </a:p>
        </p:txBody>
      </p:sp>
      <p:sp>
        <p:nvSpPr>
          <p:cNvPr id="822" name="Google Shape;822;p10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23" name="Google Shape;823;p10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03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0" name="Google Shape;830;p103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 de usuários</a:t>
            </a:r>
            <a:endParaRPr/>
          </a:p>
        </p:txBody>
      </p:sp>
      <p:sp>
        <p:nvSpPr>
          <p:cNvPr id="831" name="Google Shape;831;p103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32" name="Google Shape;832;p103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Uma tabela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Colunas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Identificador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Nome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Sobrenome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Email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Data de nascimento</a:t>
            </a:r>
            <a:endParaRPr/>
          </a:p>
        </p:txBody>
      </p:sp>
      <p:sp>
        <p:nvSpPr>
          <p:cNvPr id="833" name="Google Shape;833;p103"/>
          <p:cNvSpPr txBox="1"/>
          <p:nvPr>
            <p:ph idx="3" type="body"/>
          </p:nvPr>
        </p:nvSpPr>
        <p:spPr>
          <a:xfrm>
            <a:off x="4568644" y="1646363"/>
            <a:ext cx="40119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Colocar 4 usuários na tabela	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Preencher com dados “reais”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Por exemplo</a:t>
            </a:r>
            <a:endParaRPr/>
          </a:p>
        </p:txBody>
      </p:sp>
      <p:graphicFrame>
        <p:nvGraphicFramePr>
          <p:cNvPr id="834" name="Google Shape;834;p103"/>
          <p:cNvGraphicFramePr/>
          <p:nvPr/>
        </p:nvGraphicFramePr>
        <p:xfrm>
          <a:off x="3706256" y="308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{2BCCA368-2E8F-4469-8471-A0AE9E97C2B5}</a:tableStyleId>
              </a:tblPr>
              <a:tblGrid>
                <a:gridCol w="326425"/>
                <a:gridCol w="730150"/>
                <a:gridCol w="980675"/>
                <a:gridCol w="2303075"/>
                <a:gridCol w="10850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Id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Nome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Sobrenome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Email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Nascimento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Arnaldo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Silva 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arnaldinho83@bol.com.br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27/10/1936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Carmen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Aragão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caminha79@uol.com.br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02/03/1940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3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Leonidas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de Orleans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reideorleans@aol.com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05/07/1951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Clotilde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Batista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clobat@terra.com.br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11/12/1947</a:t>
                      </a:r>
                      <a:endParaRPr sz="1100" u="none" cap="none" strike="noStrike"/>
                    </a:p>
                  </a:txBody>
                  <a:tcPr marT="68575" marB="68575" marR="68575" marL="68575">
                    <a:lnL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04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1" name="Google Shape;841;p104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842" name="Google Shape;842;p104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43" name="Google Shape;843;p104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rowspan 	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row ⇒ linha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aumentar a quantidade de células ocupadas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ocupar células para baixo</a:t>
            </a:r>
            <a:endParaRPr/>
          </a:p>
        </p:txBody>
      </p:sp>
      <p:sp>
        <p:nvSpPr>
          <p:cNvPr id="844" name="Google Shape;844;p104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border="1"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&lt;caption&gt; Tabela de teste &lt;/caption&gt;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rowspan="2"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&gt;Coluna 1 e 2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rowspan="3"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5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1" name="Google Shape;851;p105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852" name="Google Shape;852;p105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53" name="Google Shape;853;p105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esse outro tipo de linha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 aí?</a:t>
            </a:r>
            <a:endParaRPr/>
          </a:p>
        </p:txBody>
      </p:sp>
      <p:sp>
        <p:nvSpPr>
          <p:cNvPr id="854" name="Google Shape;854;p105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 border="1"&gt;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&lt;caption&gt; Tabela de teste &lt;/caption&gt;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colspan="2"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&gt;Coluna 1 e 2 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colspan="3"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6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1" name="Google Shape;861;p106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862" name="Google Shape;862;p106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63" name="Google Shape;863;p106"/>
          <p:cNvSpPr txBox="1"/>
          <p:nvPr>
            <p:ph idx="2" type="body"/>
          </p:nvPr>
        </p:nvSpPr>
        <p:spPr>
          <a:xfrm>
            <a:off x="471488" y="1234814"/>
            <a:ext cx="29148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colspan 	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col ⇒ coluna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aumentar a quantidade de células ocupadas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ocupar células para direita</a:t>
            </a:r>
            <a:endParaRPr/>
          </a:p>
        </p:txBody>
      </p:sp>
      <p:sp>
        <p:nvSpPr>
          <p:cNvPr id="864" name="Google Shape;864;p106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 border="1"&gt;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&lt;caption&gt; Tabela de teste &lt;/caption&gt;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colspan="2"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&gt;Coluna 1 e 2 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colspan="3"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871" name="Google Shape;871;p10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Atributos de tabelas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Vão ver tabelas com width, height, color, …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Tem vários atributos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(quase) Todos passaram a não ser suportados pelo HTML5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Ou seja, não é recomendável mais fazer no html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deixar essas coisas para os estilos do CSSs</a:t>
            </a:r>
            <a:endParaRPr/>
          </a:p>
        </p:txBody>
      </p:sp>
      <p:sp>
        <p:nvSpPr>
          <p:cNvPr id="872" name="Google Shape;872;p10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3" name="Google Shape;873;p10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08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0" name="Google Shape;880;p108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881" name="Google Shape;881;p108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82" name="Google Shape;882;p108"/>
          <p:cNvSpPr txBox="1"/>
          <p:nvPr>
            <p:ph idx="2" type="body"/>
          </p:nvPr>
        </p:nvSpPr>
        <p:spPr>
          <a:xfrm>
            <a:off x="628650" y="1646419"/>
            <a:ext cx="3804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colspan </a:t>
            </a:r>
            <a:r>
              <a:rPr lang="pt-BR"/>
              <a:t>+ </a:t>
            </a:r>
            <a:r>
              <a:rPr b="1" lang="pt-BR"/>
              <a:t>rowspan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Faz exatamente o que deve fazer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aumentar a quantidade de células ocupadas para direita e para baixo</a:t>
            </a:r>
            <a:endParaRPr/>
          </a:p>
        </p:txBody>
      </p:sp>
      <p:sp>
        <p:nvSpPr>
          <p:cNvPr id="883" name="Google Shape;883;p108"/>
          <p:cNvSpPr txBox="1"/>
          <p:nvPr/>
        </p:nvSpPr>
        <p:spPr>
          <a:xfrm>
            <a:off x="4432481" y="0"/>
            <a:ext cx="47118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&lt;table border="1"&gt;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&lt;caption&gt;Tabela de teste &lt;/caption&gt;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rowspan="2"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colspan="2"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Coluna 1 e 2 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&lt;th&gt; Coluna2 &lt;/th&gt;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Linha2,Coluna1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rowspan="3" colspan="3"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teste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Linha3,Coluna2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&lt;td&gt; Linha3,Coluna3 &lt;/td&gt;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&lt;/tr&gt;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0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Formulários</a:t>
            </a:r>
            <a:endParaRPr/>
          </a:p>
        </p:txBody>
      </p:sp>
      <p:sp>
        <p:nvSpPr>
          <p:cNvPr id="890" name="Google Shape;890;p10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Lá na primeira aula…	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Falamos que as páginas Web funcionam na arquitetura </a:t>
            </a:r>
            <a:r>
              <a:rPr b="1" lang="pt-BR"/>
              <a:t>cliente-servidor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Os navegadores recebem informação de um servidor que processa os dados para serem renderizados na tela do navegador</a:t>
            </a:r>
            <a:endParaRPr/>
          </a:p>
        </p:txBody>
      </p:sp>
      <p:sp>
        <p:nvSpPr>
          <p:cNvPr id="891" name="Google Shape;891;p10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2" name="Google Shape;892;p10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1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Formulários</a:t>
            </a:r>
            <a:endParaRPr/>
          </a:p>
        </p:txBody>
      </p:sp>
      <p:sp>
        <p:nvSpPr>
          <p:cNvPr id="899" name="Google Shape;899;p11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0" name="Google Shape;900;p11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901" name="Google Shape;90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9588" y="1505119"/>
            <a:ext cx="5424861" cy="325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1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Formulários</a:t>
            </a:r>
            <a:endParaRPr/>
          </a:p>
        </p:txBody>
      </p:sp>
      <p:sp>
        <p:nvSpPr>
          <p:cNvPr id="908" name="Google Shape;908;p111"/>
          <p:cNvSpPr txBox="1"/>
          <p:nvPr>
            <p:ph idx="1" type="body"/>
          </p:nvPr>
        </p:nvSpPr>
        <p:spPr>
          <a:xfrm>
            <a:off x="628650" y="1653038"/>
            <a:ext cx="38604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Praticamente todas as páginas Web precisam de alguma maneira que o usuário coloque dados para dentro do sistema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Enviando para o servidor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Para isso usamos </a:t>
            </a:r>
            <a:r>
              <a:rPr b="1" lang="pt-BR"/>
              <a:t>formulários </a:t>
            </a:r>
            <a:endParaRPr b="1"/>
          </a:p>
        </p:txBody>
      </p:sp>
      <p:sp>
        <p:nvSpPr>
          <p:cNvPr id="909" name="Google Shape;909;p11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0" name="Google Shape;910;p11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911" name="Google Shape;91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820" y="1562895"/>
            <a:ext cx="3375850" cy="12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9875" y="2786695"/>
            <a:ext cx="2872806" cy="2052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1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 ⇒ formulário</a:t>
            </a:r>
            <a:endParaRPr/>
          </a:p>
        </p:txBody>
      </p:sp>
      <p:sp>
        <p:nvSpPr>
          <p:cNvPr id="919" name="Google Shape;919;p11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marcador </a:t>
            </a:r>
            <a:r>
              <a:rPr b="1" lang="pt-BR"/>
              <a:t>form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o marcador que cria um formulário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criem uma pasta nova (aula3)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criem uma página nova (formulario.html)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coloquem um formulário dentro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b="1" lang="pt-BR"/>
              <a:t>&lt;form&gt; &lt;/form&gt;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b="1" lang="pt-BR"/>
              <a:t>O que apareceu na página?</a:t>
            </a:r>
            <a:endParaRPr b="1"/>
          </a:p>
        </p:txBody>
      </p:sp>
      <p:sp>
        <p:nvSpPr>
          <p:cNvPr id="920" name="Google Shape;920;p11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21" name="Google Shape;921;p11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1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 ⇒ formulário</a:t>
            </a:r>
            <a:endParaRPr/>
          </a:p>
        </p:txBody>
      </p:sp>
      <p:sp>
        <p:nvSpPr>
          <p:cNvPr id="928" name="Google Shape;928;p11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marcador </a:t>
            </a:r>
            <a:r>
              <a:rPr b="1" lang="pt-BR"/>
              <a:t>form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em si não faz nada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ainda não tem nada dentro do formulário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é um agrupador de marcadores que serão mandados para o servidor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Precisa ser aberto e fechado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Conteúdo dele é que constitui o formulário</a:t>
            </a:r>
            <a:endParaRPr/>
          </a:p>
        </p:txBody>
      </p:sp>
      <p:sp>
        <p:nvSpPr>
          <p:cNvPr id="929" name="Google Shape;929;p11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0" name="Google Shape;930;p11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1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 ⇒ formulário</a:t>
            </a:r>
            <a:endParaRPr/>
          </a:p>
        </p:txBody>
      </p:sp>
      <p:sp>
        <p:nvSpPr>
          <p:cNvPr id="937" name="Google Shape;937;p11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marcador </a:t>
            </a:r>
            <a:r>
              <a:rPr b="1" lang="pt-BR"/>
              <a:t>form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Alguns marcadores específicos vão ter suas informações enviadas para o servidor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Podemos colocar todos os tipos de marcadores dentro do marcador form, mas </a:t>
            </a:r>
            <a:r>
              <a:rPr b="1" lang="pt-BR"/>
              <a:t>somente alguns</a:t>
            </a:r>
            <a:r>
              <a:rPr lang="pt-BR"/>
              <a:t> vão ser mandados para o servidor</a:t>
            </a:r>
            <a:endParaRPr/>
          </a:p>
        </p:txBody>
      </p:sp>
      <p:sp>
        <p:nvSpPr>
          <p:cNvPr id="938" name="Google Shape;938;p11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9" name="Google Shape;939;p11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1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 ⇒ formulário</a:t>
            </a:r>
            <a:endParaRPr/>
          </a:p>
        </p:txBody>
      </p:sp>
      <p:sp>
        <p:nvSpPr>
          <p:cNvPr id="946" name="Google Shape;946;p11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um formulário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apareceu na tela?</a:t>
            </a:r>
            <a:endParaRPr/>
          </a:p>
        </p:txBody>
      </p:sp>
      <p:sp>
        <p:nvSpPr>
          <p:cNvPr id="947" name="Google Shape;947;p11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8" name="Google Shape;948;p11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49" name="Google Shape;949;p115"/>
          <p:cNvSpPr txBox="1"/>
          <p:nvPr/>
        </p:nvSpPr>
        <p:spPr>
          <a:xfrm>
            <a:off x="1441294" y="2666963"/>
            <a:ext cx="59478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 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 type="text"&gt;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1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 ⇒ formulário</a:t>
            </a:r>
            <a:endParaRPr/>
          </a:p>
        </p:txBody>
      </p:sp>
      <p:sp>
        <p:nvSpPr>
          <p:cNvPr id="956" name="Google Shape;956;p11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um formulário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apareceu na tela?</a:t>
            </a:r>
            <a:endParaRPr/>
          </a:p>
        </p:txBody>
      </p:sp>
      <p:sp>
        <p:nvSpPr>
          <p:cNvPr id="957" name="Google Shape;957;p11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8" name="Google Shape;958;p11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59" name="Google Shape;959;p116"/>
          <p:cNvSpPr txBox="1"/>
          <p:nvPr/>
        </p:nvSpPr>
        <p:spPr>
          <a:xfrm>
            <a:off x="1441294" y="2666963"/>
            <a:ext cx="59478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type="text"&gt;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type="text"&gt;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1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966" name="Google Shape;966;p11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Um dos marcadores que define que determinado conteúdo vai ser enviado ao servidor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precisa ser fechado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Geralmente é acompanhado de um texto antes para informar para o usuário o que deve ser inserido no campo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b="1" lang="pt-BR"/>
              <a:t>&lt;input type="text"&gt;</a:t>
            </a:r>
            <a:endParaRPr b="1"/>
          </a:p>
        </p:txBody>
      </p:sp>
      <p:sp>
        <p:nvSpPr>
          <p:cNvPr id="967" name="Google Shape;967;p11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68" name="Google Shape;968;p11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1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975" name="Google Shape;975;p11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type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Como vocês devem imaginar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Informa o tipo que é o </a:t>
            </a:r>
            <a:r>
              <a:rPr b="1" lang="pt-BR"/>
              <a:t>input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Exemplo foi do tipo </a:t>
            </a:r>
            <a:r>
              <a:rPr b="1" lang="pt-BR"/>
              <a:t>text</a:t>
            </a:r>
            <a:endParaRPr b="1"/>
          </a:p>
          <a:p>
            <a:pPr indent="-222250" lvl="4" marL="17145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900"/>
              <a:buChar char="➤"/>
            </a:pPr>
            <a:r>
              <a:rPr lang="pt-BR"/>
              <a:t>Usado para inserir qualquer tipo de texto</a:t>
            </a:r>
            <a:endParaRPr/>
          </a:p>
        </p:txBody>
      </p:sp>
      <p:sp>
        <p:nvSpPr>
          <p:cNvPr id="976" name="Google Shape;976;p11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7" name="Google Shape;977;p11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984" name="Google Shape;984;p11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type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Como vocês devem imaginar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Variando o conteúdo do type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vai alterar o que aparece como resultado do input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existem variações do valor do type</a:t>
            </a:r>
            <a:endParaRPr/>
          </a:p>
        </p:txBody>
      </p:sp>
      <p:sp>
        <p:nvSpPr>
          <p:cNvPr id="985" name="Google Shape;985;p11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6" name="Google Shape;986;p11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2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 ⇒ formulário</a:t>
            </a:r>
            <a:endParaRPr/>
          </a:p>
        </p:txBody>
      </p:sp>
      <p:sp>
        <p:nvSpPr>
          <p:cNvPr id="993" name="Google Shape;993;p12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que está estranho nesse formulário?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Quando vocês vão fazer login em um site é assim que aparecem os campos?</a:t>
            </a:r>
            <a:endParaRPr/>
          </a:p>
        </p:txBody>
      </p:sp>
      <p:sp>
        <p:nvSpPr>
          <p:cNvPr id="994" name="Google Shape;994;p12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5" name="Google Shape;995;p12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96" name="Google Shape;996;p120"/>
          <p:cNvSpPr txBox="1"/>
          <p:nvPr/>
        </p:nvSpPr>
        <p:spPr>
          <a:xfrm>
            <a:off x="1490738" y="2829469"/>
            <a:ext cx="59478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 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 type="text"&gt;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2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003" name="Google Shape;1003;p12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type = “password”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Alterem a página para ver o que acontece</a:t>
            </a:r>
            <a:endParaRPr/>
          </a:p>
        </p:txBody>
      </p:sp>
      <p:sp>
        <p:nvSpPr>
          <p:cNvPr id="1004" name="Google Shape;1004;p12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5" name="Google Shape;1005;p12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06" name="Google Shape;1006;p121"/>
          <p:cNvSpPr txBox="1"/>
          <p:nvPr/>
        </p:nvSpPr>
        <p:spPr>
          <a:xfrm>
            <a:off x="1490738" y="2829469"/>
            <a:ext cx="59478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 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2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013" name="Google Shape;1013;p12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type = “password” ⇒ senha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Funciona exatamente igual ao text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Só que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Oculta os caracteres na hora que escrevemos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Como esperado para um campo de senha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quer dizer que é uma senha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Só é do tipo password</a:t>
            </a:r>
            <a:endParaRPr/>
          </a:p>
        </p:txBody>
      </p:sp>
      <p:sp>
        <p:nvSpPr>
          <p:cNvPr id="1014" name="Google Shape;1014;p12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5" name="Google Shape;1015;p12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2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022" name="Google Shape;1022;p12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Vamos enviar para o servidor os atributos, certo?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Como sabemos qual valor é de qual atributo?</a:t>
            </a:r>
            <a:endParaRPr/>
          </a:p>
        </p:txBody>
      </p:sp>
      <p:sp>
        <p:nvSpPr>
          <p:cNvPr id="1023" name="Google Shape;1023;p12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24" name="Google Shape;1024;p12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25" name="Google Shape;1025;p123"/>
          <p:cNvSpPr txBox="1"/>
          <p:nvPr/>
        </p:nvSpPr>
        <p:spPr>
          <a:xfrm>
            <a:off x="1490738" y="2829469"/>
            <a:ext cx="59478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 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 type="password"&gt;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2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Identificar inputs</a:t>
            </a:r>
            <a:endParaRPr/>
          </a:p>
        </p:txBody>
      </p:sp>
      <p:sp>
        <p:nvSpPr>
          <p:cNvPr id="1032" name="Google Shape;1032;p12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Atributo </a:t>
            </a:r>
            <a:r>
              <a:rPr b="1" lang="pt-BR"/>
              <a:t>name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Testem no navegador de vocês...</a:t>
            </a:r>
            <a:endParaRPr/>
          </a:p>
        </p:txBody>
      </p:sp>
      <p:sp>
        <p:nvSpPr>
          <p:cNvPr id="1033" name="Google Shape;1033;p12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34" name="Google Shape;1034;p12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35" name="Google Shape;1035;p124"/>
          <p:cNvSpPr txBox="1"/>
          <p:nvPr/>
        </p:nvSpPr>
        <p:spPr>
          <a:xfrm>
            <a:off x="310894" y="2578360"/>
            <a:ext cx="84075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name="login"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name="senha"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2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Identificar inputs</a:t>
            </a:r>
            <a:endParaRPr/>
          </a:p>
        </p:txBody>
      </p:sp>
      <p:sp>
        <p:nvSpPr>
          <p:cNvPr id="1042" name="Google Shape;1042;p12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Não mudou nada visualmente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Só mudou que os inputs agora tem um valor de nome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Isso ajuda para mandar a informação e para usar os próximos tipos de inputs</a:t>
            </a:r>
            <a:endParaRPr/>
          </a:p>
        </p:txBody>
      </p:sp>
      <p:sp>
        <p:nvSpPr>
          <p:cNvPr id="1043" name="Google Shape;1043;p12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4" name="Google Shape;1044;p12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45" name="Google Shape;1045;p125"/>
          <p:cNvSpPr txBox="1"/>
          <p:nvPr/>
        </p:nvSpPr>
        <p:spPr>
          <a:xfrm>
            <a:off x="368213" y="3086775"/>
            <a:ext cx="84075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name="login"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name="senha"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2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Identificar inputs</a:t>
            </a:r>
            <a:endParaRPr/>
          </a:p>
        </p:txBody>
      </p:sp>
      <p:sp>
        <p:nvSpPr>
          <p:cNvPr id="1052" name="Google Shape;1052;p12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Guardem isso na cabeça que veremos a utilidade deste </a:t>
            </a:r>
            <a:r>
              <a:rPr b="1" lang="pt-BR"/>
              <a:t>atributo name </a:t>
            </a:r>
            <a:r>
              <a:rPr lang="pt-BR"/>
              <a:t>em breve por outras razões</a:t>
            </a:r>
            <a:endParaRPr/>
          </a:p>
        </p:txBody>
      </p:sp>
      <p:sp>
        <p:nvSpPr>
          <p:cNvPr id="1053" name="Google Shape;1053;p12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54" name="Google Shape;1054;p12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55" name="Google Shape;1055;p126"/>
          <p:cNvSpPr txBox="1"/>
          <p:nvPr/>
        </p:nvSpPr>
        <p:spPr>
          <a:xfrm>
            <a:off x="368213" y="3086775"/>
            <a:ext cx="84075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name="login"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name="senha"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2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062" name="Google Shape;1062;p12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Vamos enviar para o servidor os atributos, certo?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Como enviamos de fato para o servidor?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está faltando para enviar?</a:t>
            </a:r>
            <a:endParaRPr/>
          </a:p>
        </p:txBody>
      </p:sp>
      <p:sp>
        <p:nvSpPr>
          <p:cNvPr id="1063" name="Google Shape;1063;p12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4" name="Google Shape;1064;p12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65" name="Google Shape;1065;p127"/>
          <p:cNvSpPr txBox="1"/>
          <p:nvPr/>
        </p:nvSpPr>
        <p:spPr>
          <a:xfrm>
            <a:off x="368213" y="3086775"/>
            <a:ext cx="84075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name="login"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name="senha"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2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072" name="Google Shape;1072;p12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Testem no navegador de vocês</a:t>
            </a:r>
            <a:endParaRPr/>
          </a:p>
        </p:txBody>
      </p:sp>
      <p:sp>
        <p:nvSpPr>
          <p:cNvPr id="1073" name="Google Shape;1073;p12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4" name="Google Shape;1074;p12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75" name="Google Shape;1075;p128"/>
          <p:cNvSpPr txBox="1"/>
          <p:nvPr/>
        </p:nvSpPr>
        <p:spPr>
          <a:xfrm>
            <a:off x="368213" y="2218388"/>
            <a:ext cx="86259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name="login"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name="senha"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type="password"&gt;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&lt;br&gt;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2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082" name="Google Shape;1082;p12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type="submit"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Cria um botão padrão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 submit escrito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Padrão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Se alteramos o navegador, PODE ser que o que está escrito no botão tamb</a:t>
            </a:r>
            <a:r>
              <a:rPr lang="pt-BR"/>
              <a:t>ém seja alterado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Testem em navegadores diferentes…</a:t>
            </a:r>
            <a:endParaRPr/>
          </a:p>
        </p:txBody>
      </p:sp>
      <p:sp>
        <p:nvSpPr>
          <p:cNvPr id="1083" name="Google Shape;1083;p12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4" name="Google Shape;1084;p12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3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091" name="Google Shape;1091;p13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type="submit"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Envia o formulário para algum lugar (em breve)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Cliquem no botão submit 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Olhem a barra de url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Os valores atribuídos ao atributo </a:t>
            </a:r>
            <a:r>
              <a:rPr b="1" lang="pt-BR"/>
              <a:t>name </a:t>
            </a:r>
            <a:r>
              <a:rPr lang="pt-BR"/>
              <a:t>dos inputs são mostrados na url com os textos digitados neles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E o </a:t>
            </a:r>
            <a:r>
              <a:rPr b="1" lang="pt-BR"/>
              <a:t>input password</a:t>
            </a:r>
            <a:r>
              <a:rPr lang="pt-BR"/>
              <a:t>?</a:t>
            </a:r>
            <a:endParaRPr/>
          </a:p>
        </p:txBody>
      </p:sp>
      <p:sp>
        <p:nvSpPr>
          <p:cNvPr id="1092" name="Google Shape;1092;p13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3" name="Google Shape;1093;p13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3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100" name="Google Shape;1100;p13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no navegador de vocês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faz esse botão novo?</a:t>
            </a:r>
            <a:endParaRPr/>
          </a:p>
        </p:txBody>
      </p:sp>
      <p:sp>
        <p:nvSpPr>
          <p:cNvPr id="1101" name="Google Shape;1101;p13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2" name="Google Shape;1102;p13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03" name="Google Shape;1103;p131"/>
          <p:cNvSpPr txBox="1"/>
          <p:nvPr/>
        </p:nvSpPr>
        <p:spPr>
          <a:xfrm>
            <a:off x="361444" y="2658863"/>
            <a:ext cx="86259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Meu primeiro formulário&lt;/h1&gt;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name="login"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name="senha"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type="reset"&gt;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3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110" name="Google Shape;1110;p13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type="reset"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Cria outro botão padrão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Com </a:t>
            </a:r>
            <a:r>
              <a:rPr b="1" lang="pt-BR"/>
              <a:t>reset </a:t>
            </a:r>
            <a:r>
              <a:rPr lang="pt-BR"/>
              <a:t>escrito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Se alterar o navegador PODE alterar o que está escrito no botão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Ao clicar no botão, o navegador voltar os valores dos inputs para os valores iniciais ("limpa")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11" name="Google Shape;1111;p13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12" name="Google Shape;1112;p13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3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Entrada de dados</a:t>
            </a:r>
            <a:endParaRPr/>
          </a:p>
        </p:txBody>
      </p:sp>
      <p:sp>
        <p:nvSpPr>
          <p:cNvPr id="1119" name="Google Shape;1119;p13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no navegador de vocês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20" name="Google Shape;1120;p13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1" name="Google Shape;1121;p13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22" name="Google Shape;1122;p133"/>
          <p:cNvSpPr txBox="1"/>
          <p:nvPr/>
        </p:nvSpPr>
        <p:spPr>
          <a:xfrm>
            <a:off x="559725" y="2046469"/>
            <a:ext cx="7828800" cy="2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	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Login:&lt;input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name="login"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type="text"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value="usuário"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Senha:&lt;input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name="senha"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type="password"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value="1234567"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 &lt;input type="reset"&gt;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3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Atributo Value</a:t>
            </a:r>
            <a:endParaRPr/>
          </a:p>
        </p:txBody>
      </p:sp>
      <p:sp>
        <p:nvSpPr>
          <p:cNvPr id="1129" name="Google Shape;1129;p13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value ⇒ valor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Define um valor padrão para o input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Usado para facilitar a vida do usuário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Auto-preencher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Ou dar sugestões de preenchimento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Útil também no input reset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Voltar para esses valores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30" name="Google Shape;1130;p13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31" name="Google Shape;1131;p13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3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Formulário</a:t>
            </a:r>
            <a:endParaRPr/>
          </a:p>
        </p:txBody>
      </p:sp>
      <p:sp>
        <p:nvSpPr>
          <p:cNvPr id="1138" name="Google Shape;1138;p13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Existem mais vários tipos de input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Vamos ver mais uns exemplos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Para que servem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Como usar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Crescer o formulário da aula passada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39" name="Google Shape;1139;p13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0" name="Google Shape;1140;p13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3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Testem</a:t>
            </a:r>
            <a:endParaRPr/>
          </a:p>
        </p:txBody>
      </p:sp>
      <p:sp>
        <p:nvSpPr>
          <p:cNvPr id="1147" name="Google Shape;1147;p13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8" name="Google Shape;1148;p13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49" name="Google Shape;1149;p136"/>
          <p:cNvSpPr txBox="1"/>
          <p:nvPr/>
        </p:nvSpPr>
        <p:spPr>
          <a:xfrm>
            <a:off x="0" y="1587150"/>
            <a:ext cx="9144000" cy="3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Nome:&lt;input name="nome" type="text" value="nome"&gt;&lt;br&gt;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Senha:&lt;input name="senha" type="password" value="senha"&gt;&lt;br&gt;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Função: 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name="funcao" value="aluno"&gt; Aluno 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name="funcao" value="professor"&gt; Professor &lt;input type="radio" name="funcao" value="outro"&gt; Outro &lt;br&gt;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type="submit"&gt;&lt;input type="reset"&gt;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3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Radio</a:t>
            </a:r>
            <a:endParaRPr/>
          </a:p>
        </p:txBody>
      </p:sp>
      <p:sp>
        <p:nvSpPr>
          <p:cNvPr id="1156" name="Google Shape;1156;p13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type ⇒ radio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type="radio" 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escolher um entre muitos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dar opções fixas para o usuário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Como isso é feito no código html?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Como ele sabe quais opções são do radio?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57" name="Google Shape;1157;p13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8" name="Google Shape;1158;p13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3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Testem</a:t>
            </a:r>
            <a:endParaRPr/>
          </a:p>
        </p:txBody>
      </p:sp>
      <p:sp>
        <p:nvSpPr>
          <p:cNvPr id="1165" name="Google Shape;1165;p13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6" name="Google Shape;1166;p13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67" name="Google Shape;1167;p138"/>
          <p:cNvSpPr txBox="1"/>
          <p:nvPr/>
        </p:nvSpPr>
        <p:spPr>
          <a:xfrm>
            <a:off x="0" y="1587150"/>
            <a:ext cx="9144000" cy="3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Nome:&lt;input name="nome" type="text" value="nome"&gt;&lt;br&gt;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Senha:&lt;input name="senha" type="password" value="senha"&gt;&lt;br&gt;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Função: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name="funcao" value="aluno"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Aluno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name="funcao" value="professor"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Professor &lt;input type="radio"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name="funcao" value="outro"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Outro 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type="submit"&gt;&lt;input type="reset"&gt;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3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Radio</a:t>
            </a:r>
            <a:endParaRPr/>
          </a:p>
        </p:txBody>
      </p:sp>
      <p:sp>
        <p:nvSpPr>
          <p:cNvPr id="1174" name="Google Shape;1174;p13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Agrupados pelo atributo name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name="funcao" que identifica são do mesmo radio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Testem colocar outro radio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75" name="Google Shape;1175;p13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6" name="Google Shape;1176;p13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77" name="Google Shape;1177;p139"/>
          <p:cNvSpPr txBox="1"/>
          <p:nvPr/>
        </p:nvSpPr>
        <p:spPr>
          <a:xfrm>
            <a:off x="0" y="2942738"/>
            <a:ext cx="91440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Time: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name="time" value="</a:t>
            </a: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sergipe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Sergipe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name="time" value="</a:t>
            </a: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confianca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Confiança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name="time" value="outro"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Outro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name="time" value="nenhum"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Nenhum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4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Radio</a:t>
            </a:r>
            <a:endParaRPr/>
          </a:p>
        </p:txBody>
      </p:sp>
      <p:sp>
        <p:nvSpPr>
          <p:cNvPr id="1184" name="Google Shape;1184;p14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Cliquem no submit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Qual o valor do input time?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Qual o valor do input funcao?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85" name="Google Shape;1185;p14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6" name="Google Shape;1186;p14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4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Radio</a:t>
            </a:r>
            <a:endParaRPr/>
          </a:p>
        </p:txBody>
      </p:sp>
      <p:sp>
        <p:nvSpPr>
          <p:cNvPr id="1193" name="Google Shape;1193;p14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Cliquem no submit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Qual o valor do input time?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Qual o valor do input funcao?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Olhem na url depois de apertar o submit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Foi o valor do atributo </a:t>
            </a:r>
            <a:r>
              <a:rPr b="1" lang="pt-BR"/>
              <a:t>value </a:t>
            </a:r>
            <a:r>
              <a:rPr lang="pt-BR"/>
              <a:t>que pode não ter relação com o texto que vem depois do radio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194" name="Google Shape;1194;p14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5" name="Google Shape;1195;p14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4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Entradas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2" name="Google Shape;1202;p14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Substituir o radio do time por checkbox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Poder escolher mais de um time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Testem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203" name="Google Shape;1203;p14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4" name="Google Shape;1204;p14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05" name="Google Shape;1205;p142"/>
          <p:cNvSpPr txBox="1"/>
          <p:nvPr/>
        </p:nvSpPr>
        <p:spPr>
          <a:xfrm>
            <a:off x="0" y="2980556"/>
            <a:ext cx="91440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Time: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checkbox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name="time" value="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ita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 Itabaiana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checkbox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name="time" value="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lag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 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Lagartense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checkbox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name="time" value="outro"&gt; Outro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name="time" value="nenhum"&gt; Nenhum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4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Checkbox</a:t>
            </a:r>
            <a:endParaRPr/>
          </a:p>
        </p:txBody>
      </p:sp>
      <p:sp>
        <p:nvSpPr>
          <p:cNvPr id="1212" name="Google Shape;1212;p14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Cliquem no submit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olhem a url para verificar os valores do time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213" name="Google Shape;1213;p14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14" name="Google Shape;1214;p14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15" name="Google Shape;1215;p143"/>
          <p:cNvSpPr txBox="1"/>
          <p:nvPr/>
        </p:nvSpPr>
        <p:spPr>
          <a:xfrm>
            <a:off x="0" y="2980556"/>
            <a:ext cx="91440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Time: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checkbox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name="time" value="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ita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 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Itabaiana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checkbox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name="time" value="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lag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 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Lagartense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&lt;input type="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checkbox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name="time" value="outro"&gt; Outro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name="time" value="nenhum"&gt; Nenhum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4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Checkbox</a:t>
            </a:r>
            <a:endParaRPr/>
          </a:p>
        </p:txBody>
      </p:sp>
      <p:sp>
        <p:nvSpPr>
          <p:cNvPr id="1222" name="Google Shape;1222;p14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Agrupados pelo atributo name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name="contato" que identifica são do mesmo checkbox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Testem colocar outro checkbox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223" name="Google Shape;1223;p14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4" name="Google Shape;1224;p14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25" name="Google Shape;1225;p144"/>
          <p:cNvSpPr txBox="1"/>
          <p:nvPr/>
        </p:nvSpPr>
        <p:spPr>
          <a:xfrm>
            <a:off x="0" y="2980556"/>
            <a:ext cx="91440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Contato: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type="checkbox"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name="contato" value="sms"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SMS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type="checkbox"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name="contato" value="whats"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Whats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type="checkbox"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name="contato" value="ligacao"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ligacao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type="checkbox"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name="contato" value="nenhum"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Nenhum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4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Checkbox</a:t>
            </a:r>
            <a:endParaRPr/>
          </a:p>
        </p:txBody>
      </p:sp>
      <p:sp>
        <p:nvSpPr>
          <p:cNvPr id="1232" name="Google Shape;1232;p14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Checkbox ⇒ Caixa de checagem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poder selecionar vários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praticamente igual ao radio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233" name="Google Shape;1233;p14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34" name="Google Shape;1234;p14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4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Button</a:t>
            </a:r>
            <a:endParaRPr/>
          </a:p>
        </p:txBody>
      </p:sp>
      <p:sp>
        <p:nvSpPr>
          <p:cNvPr id="1241" name="Google Shape;1241;p14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Além dos botões padrão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Adicionem o input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Font typeface="Courier New"/>
              <a:buChar char="➤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&lt;input type=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"button" value="Não clique!"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 b="1"/>
          </a:p>
        </p:txBody>
      </p:sp>
      <p:sp>
        <p:nvSpPr>
          <p:cNvPr id="1242" name="Google Shape;1242;p14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3" name="Google Shape;1243;p14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4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Button</a:t>
            </a:r>
            <a:endParaRPr/>
          </a:p>
        </p:txBody>
      </p:sp>
      <p:sp>
        <p:nvSpPr>
          <p:cNvPr id="1250" name="Google Shape;1250;p14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type = button ⇒ botão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</a:t>
            </a:r>
            <a:r>
              <a:rPr b="1" lang="pt-BR"/>
              <a:t>value </a:t>
            </a:r>
            <a:r>
              <a:rPr lang="pt-BR"/>
              <a:t>é o valor que vai aparecer dentro do botão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value="Não clique!"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como os botões padrão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mas que não tem ação pré definida</a:t>
            </a:r>
            <a:endParaRPr/>
          </a:p>
        </p:txBody>
      </p:sp>
      <p:sp>
        <p:nvSpPr>
          <p:cNvPr id="1251" name="Google Shape;1251;p14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52" name="Google Shape;1252;p14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4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Button</a:t>
            </a:r>
            <a:endParaRPr/>
          </a:p>
        </p:txBody>
      </p:sp>
      <p:sp>
        <p:nvSpPr>
          <p:cNvPr id="1259" name="Google Shape;1259;p14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type = button ⇒ botão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</a:t>
            </a:r>
            <a:r>
              <a:rPr b="1" lang="pt-BR"/>
              <a:t>value </a:t>
            </a:r>
            <a:r>
              <a:rPr lang="pt-BR"/>
              <a:t>é o valor que vai aparecer dentro do botão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value="Não clique!"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 colocarmos values dentro dos botões padrão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eles também se alteram para o valor que colocarmos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mas não mudam o comportamento de reset ou submit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no futuro poderemos associar aç</a:t>
            </a:r>
            <a:r>
              <a:rPr lang="pt-BR"/>
              <a:t>ões javascript a esses botões</a:t>
            </a:r>
            <a:endParaRPr/>
          </a:p>
        </p:txBody>
      </p:sp>
      <p:sp>
        <p:nvSpPr>
          <p:cNvPr id="1260" name="Google Shape;1260;p14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1" name="Google Shape;1261;p14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4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Entrada de dados</a:t>
            </a:r>
            <a:endParaRPr/>
          </a:p>
        </p:txBody>
      </p:sp>
      <p:sp>
        <p:nvSpPr>
          <p:cNvPr id="1268" name="Google Shape;1268;p14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no navegador de vocês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faz esse botões padrão com valor customizado?</a:t>
            </a:r>
            <a:endParaRPr/>
          </a:p>
        </p:txBody>
      </p:sp>
      <p:sp>
        <p:nvSpPr>
          <p:cNvPr id="1269" name="Google Shape;1269;p14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0" name="Google Shape;1270;p14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71" name="Google Shape;1271;p149"/>
          <p:cNvSpPr txBox="1"/>
          <p:nvPr/>
        </p:nvSpPr>
        <p:spPr>
          <a:xfrm>
            <a:off x="361444" y="2658863"/>
            <a:ext cx="8625900" cy="20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value="Enviar"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type="reset"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value="limpar"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5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Button</a:t>
            </a:r>
            <a:endParaRPr/>
          </a:p>
        </p:txBody>
      </p:sp>
      <p:sp>
        <p:nvSpPr>
          <p:cNvPr id="1278" name="Google Shape;1278;p15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Além dos botões padrão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faz nada...ficou  parado na mesma página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Adicionem o input</a:t>
            </a:r>
            <a:endParaRPr/>
          </a:p>
          <a:p>
            <a:pPr indent="-25400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400"/>
              <a:buFont typeface="Courier New"/>
              <a:buChar char="➤"/>
            </a:pPr>
            <a:r>
              <a:rPr lang="pt-BR" sz="1700">
                <a:latin typeface="Courier New"/>
                <a:ea typeface="Courier New"/>
                <a:cs typeface="Courier New"/>
                <a:sym typeface="Courier New"/>
              </a:rPr>
              <a:t>&lt;input type=</a:t>
            </a:r>
            <a:r>
              <a:rPr b="1" lang="pt-BR" sz="1700">
                <a:latin typeface="Courier New"/>
                <a:ea typeface="Courier New"/>
                <a:cs typeface="Courier New"/>
                <a:sym typeface="Courier New"/>
              </a:rPr>
              <a:t>"button" value="Não clique!"</a:t>
            </a:r>
            <a:r>
              <a:rPr lang="pt-BR" sz="17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9" name="Google Shape;1279;p15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0" name="Google Shape;1280;p15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5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Button</a:t>
            </a:r>
            <a:endParaRPr/>
          </a:p>
        </p:txBody>
      </p:sp>
      <p:sp>
        <p:nvSpPr>
          <p:cNvPr id="1287" name="Google Shape;1287;p15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Além dos botões padrão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Adicionem o input</a:t>
            </a:r>
            <a:endParaRPr/>
          </a:p>
          <a:p>
            <a:pPr indent="-25400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400"/>
              <a:buFont typeface="Courier New"/>
              <a:buChar char="➤"/>
            </a:pPr>
            <a:r>
              <a:rPr lang="pt-BR" sz="1700">
                <a:latin typeface="Courier New"/>
                <a:ea typeface="Courier New"/>
                <a:cs typeface="Courier New"/>
                <a:sym typeface="Courier New"/>
              </a:rPr>
              <a:t>&lt;input type="button" value="Não clique!" </a:t>
            </a:r>
            <a:r>
              <a:rPr b="1" lang="pt-BR" sz="1700">
                <a:latin typeface="Courier New"/>
                <a:ea typeface="Courier New"/>
                <a:cs typeface="Courier New"/>
                <a:sym typeface="Courier New"/>
              </a:rPr>
              <a:t>onclick="alert('falei para não clicar!')</a:t>
            </a:r>
            <a:r>
              <a:rPr lang="pt-BR" sz="1700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8" name="Google Shape;1288;p15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9" name="Google Shape;1289;p15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5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Input ⇒ </a:t>
            </a:r>
            <a:r>
              <a:rPr lang="pt-BR"/>
              <a:t>Button</a:t>
            </a:r>
            <a:endParaRPr/>
          </a:p>
        </p:txBody>
      </p:sp>
      <p:sp>
        <p:nvSpPr>
          <p:cNvPr id="1296" name="Google Shape;1296;p15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type = button ⇒ botão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onclick é um atributo que diz o que fazer quando o botão é clicado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é Javascript o que tem dentro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isso é para um futuro um pouco distante, mas já tá aí para vocês verem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agora vocês já criaram um alert de JS</a:t>
            </a:r>
            <a:endParaRPr/>
          </a:p>
        </p:txBody>
      </p:sp>
      <p:sp>
        <p:nvSpPr>
          <p:cNvPr id="1297" name="Google Shape;1297;p15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98" name="Google Shape;1298;p15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5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Formulários</a:t>
            </a:r>
            <a:endParaRPr/>
          </a:p>
        </p:txBody>
      </p:sp>
      <p:sp>
        <p:nvSpPr>
          <p:cNvPr id="1305" name="Google Shape;1305;p153"/>
          <p:cNvSpPr txBox="1"/>
          <p:nvPr>
            <p:ph idx="1" type="body"/>
          </p:nvPr>
        </p:nvSpPr>
        <p:spPr>
          <a:xfrm>
            <a:off x="628650" y="1653038"/>
            <a:ext cx="3902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Formulário simples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 os inputs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consegue já "funcionar"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não fazia nada no enviar/submeter</a:t>
            </a:r>
            <a:endParaRPr/>
          </a:p>
        </p:txBody>
      </p:sp>
      <p:sp>
        <p:nvSpPr>
          <p:cNvPr id="1306" name="Google Shape;1306;p15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7" name="Google Shape;1307;p15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08" name="Google Shape;1308;p153"/>
          <p:cNvSpPr txBox="1"/>
          <p:nvPr/>
        </p:nvSpPr>
        <p:spPr>
          <a:xfrm>
            <a:off x="4460250" y="0"/>
            <a:ext cx="46842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Login:&lt;input name="login" type="text"&gt;&lt;br&gt;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Senha:&lt;input name="senha" type="password"&gt;&lt;br&gt;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&lt;input type="submit"&gt;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5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Formulários</a:t>
            </a:r>
            <a:endParaRPr/>
          </a:p>
        </p:txBody>
      </p:sp>
      <p:sp>
        <p:nvSpPr>
          <p:cNvPr id="1315" name="Google Shape;1315;p154"/>
          <p:cNvSpPr txBox="1"/>
          <p:nvPr>
            <p:ph idx="1" type="body"/>
          </p:nvPr>
        </p:nvSpPr>
        <p:spPr>
          <a:xfrm>
            <a:off x="628650" y="1653038"/>
            <a:ext cx="3902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Qual a diferença?</a:t>
            </a:r>
            <a:endParaRPr/>
          </a:p>
        </p:txBody>
      </p:sp>
      <p:sp>
        <p:nvSpPr>
          <p:cNvPr id="1316" name="Google Shape;1316;p15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17" name="Google Shape;1317;p15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18" name="Google Shape;1318;p154"/>
          <p:cNvSpPr txBox="1"/>
          <p:nvPr/>
        </p:nvSpPr>
        <p:spPr>
          <a:xfrm>
            <a:off x="4460250" y="0"/>
            <a:ext cx="46842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Login:&lt;input name="login" type="text"&gt;&lt;br&gt;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Senha:&lt;input name="senha" type="password"&gt;&lt;br&gt;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&lt;input type="submit"&gt;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5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method</a:t>
            </a:r>
            <a:endParaRPr/>
          </a:p>
        </p:txBody>
      </p:sp>
      <p:sp>
        <p:nvSpPr>
          <p:cNvPr id="1325" name="Google Shape;1325;p15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Define a forma que o formulário vai ser enviado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São métodos HTTP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Os mais usados são</a:t>
            </a:r>
            <a:r>
              <a:rPr b="1" lang="pt-BR"/>
              <a:t> get e post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Existem mais métodos http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Vamos escolher qual usar com base no que vamos enviar</a:t>
            </a:r>
            <a:endParaRPr/>
          </a:p>
        </p:txBody>
      </p:sp>
      <p:sp>
        <p:nvSpPr>
          <p:cNvPr id="1326" name="Google Shape;1326;p15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7" name="Google Shape;1327;p15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5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method</a:t>
            </a:r>
            <a:endParaRPr/>
          </a:p>
        </p:txBody>
      </p:sp>
      <p:sp>
        <p:nvSpPr>
          <p:cNvPr id="1334" name="Google Shape;1334;p15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get </a:t>
            </a:r>
            <a:r>
              <a:rPr lang="pt-BR"/>
              <a:t>é o padrão do form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 não tiver um method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Quais vocês acham que são as limitações do get?</a:t>
            </a:r>
            <a:endParaRPr/>
          </a:p>
        </p:txBody>
      </p:sp>
      <p:sp>
        <p:nvSpPr>
          <p:cNvPr id="1335" name="Google Shape;1335;p15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36" name="Google Shape;1336;p15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5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method="get"</a:t>
            </a:r>
            <a:endParaRPr/>
          </a:p>
        </p:txBody>
      </p:sp>
      <p:sp>
        <p:nvSpPr>
          <p:cNvPr id="1343" name="Google Shape;1343;p15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get </a:t>
            </a:r>
            <a:r>
              <a:rPr lang="pt-BR"/>
              <a:t>é o padrão do form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 não tiver um atributo method declarado, ent</a:t>
            </a:r>
            <a:r>
              <a:rPr lang="pt-BR"/>
              <a:t>ão será assumido que é o get.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Quais vocês acham que são as limitações do get?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Dados visualizados na url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Limitação de tamanho porque vai no url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Imaginem enviar um texto (tamanho máximo da url é 2048)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Usado para pegar (get) dados de algum lugar</a:t>
            </a:r>
            <a:endParaRPr/>
          </a:p>
        </p:txBody>
      </p:sp>
      <p:sp>
        <p:nvSpPr>
          <p:cNvPr id="1344" name="Google Shape;1344;p15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5" name="Google Shape;1345;p15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15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method="get"</a:t>
            </a:r>
            <a:endParaRPr/>
          </a:p>
        </p:txBody>
      </p:sp>
      <p:sp>
        <p:nvSpPr>
          <p:cNvPr id="1352" name="Google Shape;1352;p15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valores dos inputs no get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</a:t>
            </a:r>
            <a:r>
              <a:rPr lang="pt-BR"/>
              <a:t>ula03/form2.html</a:t>
            </a:r>
            <a:r>
              <a:rPr b="1" lang="pt-BR"/>
              <a:t>?login=gui&amp;senha=123456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? ⇒ informa que daqui para frente são pares (nome=valores)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&amp; ⇒ separa os pares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b="1" lang="pt-BR"/>
              <a:t>login=gui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b="1" lang="pt-BR"/>
              <a:t>senha=123456</a:t>
            </a:r>
            <a:endParaRPr b="1"/>
          </a:p>
        </p:txBody>
      </p:sp>
      <p:sp>
        <p:nvSpPr>
          <p:cNvPr id="1353" name="Google Shape;1353;p15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54" name="Google Shape;1354;p15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5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method="post"</a:t>
            </a:r>
            <a:endParaRPr/>
          </a:p>
        </p:txBody>
      </p:sp>
      <p:sp>
        <p:nvSpPr>
          <p:cNvPr id="1361" name="Google Shape;1361;p15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Define a forma que o formulário vai ser enviado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post deve ser explicitamente colocado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method="post"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Dados não são visualizados na url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São enviados no corpo da solicitação http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Indicado para dados sensíveis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Sem limite de dados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Envio de arquivos</a:t>
            </a:r>
            <a:endParaRPr/>
          </a:p>
        </p:txBody>
      </p:sp>
      <p:sp>
        <p:nvSpPr>
          <p:cNvPr id="1362" name="Google Shape;1362;p15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3" name="Google Shape;1363;p15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6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Formulários</a:t>
            </a:r>
            <a:endParaRPr/>
          </a:p>
        </p:txBody>
      </p:sp>
      <p:sp>
        <p:nvSpPr>
          <p:cNvPr id="1370" name="Google Shape;1370;p160"/>
          <p:cNvSpPr txBox="1"/>
          <p:nvPr>
            <p:ph idx="1" type="body"/>
          </p:nvPr>
        </p:nvSpPr>
        <p:spPr>
          <a:xfrm>
            <a:off x="628650" y="1653038"/>
            <a:ext cx="30246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Indicar para onde formulário deve ir depois de enviar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testem aí e cliquem no enviar</a:t>
            </a:r>
            <a:endParaRPr/>
          </a:p>
        </p:txBody>
      </p:sp>
      <p:sp>
        <p:nvSpPr>
          <p:cNvPr id="1371" name="Google Shape;1371;p16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2" name="Google Shape;1372;p16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73" name="Google Shape;1373;p160"/>
          <p:cNvSpPr txBox="1"/>
          <p:nvPr/>
        </p:nvSpPr>
        <p:spPr>
          <a:xfrm>
            <a:off x="3759300" y="0"/>
            <a:ext cx="53850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action="teste.html"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Login:&lt;input name="login" 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Senha:&lt;input name="senha" type="password"&gt;&lt;br&gt;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&lt;input type="submit"&gt;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6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action="teste.html"</a:t>
            </a:r>
            <a:endParaRPr/>
          </a:p>
        </p:txBody>
      </p:sp>
      <p:sp>
        <p:nvSpPr>
          <p:cNvPr id="1380" name="Google Shape;1380;p16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action define para onde o formulário vai depois de clicar no enviar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atualiza a página para a url indicada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independente de ser a mesma página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geralmente vai ser para uma página com extensão </a:t>
            </a:r>
            <a:r>
              <a:rPr b="1" lang="pt-BR"/>
              <a:t>.php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que vai processar o conteúdo do formulário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e devolver uma outra página diferente</a:t>
            </a:r>
            <a:endParaRPr/>
          </a:p>
        </p:txBody>
      </p:sp>
      <p:sp>
        <p:nvSpPr>
          <p:cNvPr id="1381" name="Google Shape;1381;p16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2" name="Google Shape;1382;p16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6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action="teste.html"</a:t>
            </a:r>
            <a:endParaRPr/>
          </a:p>
        </p:txBody>
      </p:sp>
      <p:sp>
        <p:nvSpPr>
          <p:cNvPr id="1389" name="Google Shape;1389;p16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Entrem na url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https://www.google.com.br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adicionem no fim da url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adicionem no fim da url /</a:t>
            </a:r>
            <a:r>
              <a:rPr lang="pt-BR">
                <a:latin typeface="Arial"/>
                <a:ea typeface="Arial"/>
                <a:cs typeface="Arial"/>
                <a:sym typeface="Arial"/>
              </a:rPr>
              <a:t>search</a:t>
            </a:r>
            <a:r>
              <a:rPr lang="pt-BR"/>
              <a:t>?q=celular&amp;sort=6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adicionem no fim da url /</a:t>
            </a:r>
            <a:r>
              <a:rPr lang="pt-BR">
                <a:latin typeface="Arial"/>
                <a:ea typeface="Arial"/>
                <a:cs typeface="Arial"/>
                <a:sym typeface="Arial"/>
              </a:rPr>
              <a:t>search?q=celular&amp;lr=lang_pt&amp;tbs=qdr:y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Qual é o valor do action? Qual é o valor do method?</a:t>
            </a:r>
            <a:endParaRPr b="1"/>
          </a:p>
        </p:txBody>
      </p:sp>
      <p:sp>
        <p:nvSpPr>
          <p:cNvPr id="1390" name="Google Shape;1390;p16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1" name="Google Shape;1391;p16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6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Formulários</a:t>
            </a:r>
            <a:endParaRPr/>
          </a:p>
        </p:txBody>
      </p:sp>
      <p:sp>
        <p:nvSpPr>
          <p:cNvPr id="1398" name="Google Shape;1398;p163"/>
          <p:cNvSpPr txBox="1"/>
          <p:nvPr>
            <p:ph idx="1" type="body"/>
          </p:nvPr>
        </p:nvSpPr>
        <p:spPr>
          <a:xfrm>
            <a:off x="628650" y="1653038"/>
            <a:ext cx="30246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Como abrir a página?</a:t>
            </a:r>
            <a:endParaRPr b="1"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Testem aí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O que aconteceu?</a:t>
            </a:r>
            <a:endParaRPr b="1"/>
          </a:p>
        </p:txBody>
      </p:sp>
      <p:sp>
        <p:nvSpPr>
          <p:cNvPr id="1399" name="Google Shape;1399;p16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0" name="Google Shape;1400;p16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01" name="Google Shape;1401;p163"/>
          <p:cNvSpPr txBox="1"/>
          <p:nvPr/>
        </p:nvSpPr>
        <p:spPr>
          <a:xfrm>
            <a:off x="3759300" y="0"/>
            <a:ext cx="53850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target="_blank"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Login:&lt;input name="login" 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Senha:&lt;input name="senha" type="password"&gt;&lt;br&gt;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&lt;input type="submit"&gt;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6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atributo target</a:t>
            </a:r>
            <a:endParaRPr/>
          </a:p>
        </p:txBody>
      </p:sp>
      <p:sp>
        <p:nvSpPr>
          <p:cNvPr id="1408" name="Google Shape;1408;p16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Define como o action deve ser executado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Por padrão </a:t>
            </a:r>
            <a:r>
              <a:rPr b="1" lang="pt-BR"/>
              <a:t>target = "_self"</a:t>
            </a:r>
            <a:r>
              <a:rPr lang="pt-BR"/>
              <a:t>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abre a página do action na mesma aba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target = "_blank" 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abre a página do action em uma nova aba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Tem mais valor possíveis</a:t>
            </a:r>
            <a:endParaRPr b="1"/>
          </a:p>
        </p:txBody>
      </p:sp>
      <p:sp>
        <p:nvSpPr>
          <p:cNvPr id="1409" name="Google Shape;1409;p16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10" name="Google Shape;1410;p16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6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target</a:t>
            </a:r>
            <a:endParaRPr/>
          </a:p>
        </p:txBody>
      </p:sp>
      <p:sp>
        <p:nvSpPr>
          <p:cNvPr id="1417" name="Google Shape;1417;p165"/>
          <p:cNvSpPr txBox="1"/>
          <p:nvPr>
            <p:ph idx="1" type="body"/>
          </p:nvPr>
        </p:nvSpPr>
        <p:spPr>
          <a:xfrm>
            <a:off x="628650" y="1653038"/>
            <a:ext cx="30246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Funciona também em links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Testem aí</a:t>
            </a:r>
            <a:endParaRPr b="1"/>
          </a:p>
        </p:txBody>
      </p:sp>
      <p:sp>
        <p:nvSpPr>
          <p:cNvPr id="1418" name="Google Shape;1418;p16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19" name="Google Shape;1419;p16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20" name="Google Shape;1420;p165"/>
          <p:cNvSpPr txBox="1"/>
          <p:nvPr/>
        </p:nvSpPr>
        <p:spPr>
          <a:xfrm>
            <a:off x="3759300" y="0"/>
            <a:ext cx="53850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Login:&lt;input name="login" type="text"&gt;&lt;br&gt;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Senha:&lt;input name="senha" type="password"&gt;&lt;br&gt;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&lt;input type="submit"&gt;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</a:t>
            </a:r>
            <a:r>
              <a:rPr b="1" i="0" lang="pt-BR" sz="2300" u="sng" cap="none" strike="noStrike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http://globo.com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target="_blank"&gt; Globo! &lt;/a&gt;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6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fieldset</a:t>
            </a:r>
            <a:endParaRPr/>
          </a:p>
        </p:txBody>
      </p:sp>
      <p:sp>
        <p:nvSpPr>
          <p:cNvPr id="1427" name="Google Shape;1427;p166"/>
          <p:cNvSpPr txBox="1"/>
          <p:nvPr>
            <p:ph idx="1" type="body"/>
          </p:nvPr>
        </p:nvSpPr>
        <p:spPr>
          <a:xfrm>
            <a:off x="628650" y="1653038"/>
            <a:ext cx="2094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Testem aí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O que tem de novo?</a:t>
            </a:r>
            <a:endParaRPr b="1"/>
          </a:p>
        </p:txBody>
      </p:sp>
      <p:sp>
        <p:nvSpPr>
          <p:cNvPr id="1428" name="Google Shape;1428;p16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9" name="Google Shape;1429;p16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30" name="Google Shape;1430;p166"/>
          <p:cNvSpPr txBox="1"/>
          <p:nvPr/>
        </p:nvSpPr>
        <p:spPr>
          <a:xfrm>
            <a:off x="2723025" y="0"/>
            <a:ext cx="64212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&lt;fieldset&gt;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&lt;legend&gt; Entrar no site &lt;/legend&gt;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Login:&lt;input name="login" type="text"&gt;&lt;br&gt;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Senha:&lt;input name="senha" type="password"&gt;&lt;br&gt;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&lt;input type="submit"&gt;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&lt;/fieldset&gt;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6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>
                  <a:schemeClr val="lt1"/>
                </a:solidFill>
              </a:rPr>
              <a:t>Marcador fieldset</a:t>
            </a:r>
            <a:endParaRPr/>
          </a:p>
        </p:txBody>
      </p:sp>
      <p:sp>
        <p:nvSpPr>
          <p:cNvPr id="1437" name="Google Shape;1437;p16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Agrupa elementos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fieldset ⇒ grupo de campos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Não quer dizer nada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É um quadrado que aparece na página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Não faz diferente ao submeter para o servidor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marcador </a:t>
            </a:r>
            <a:r>
              <a:rPr b="1" lang="pt-BR"/>
              <a:t>legend </a:t>
            </a:r>
            <a:r>
              <a:rPr lang="pt-BR"/>
              <a:t>é o que vai no texto do agrupador</a:t>
            </a:r>
            <a:endParaRPr/>
          </a:p>
        </p:txBody>
      </p:sp>
      <p:sp>
        <p:nvSpPr>
          <p:cNvPr id="1438" name="Google Shape;1438;p16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9" name="Google Shape;1439;p16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6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Formulários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da aula anterior...</a:t>
            </a:r>
            <a:endParaRPr/>
          </a:p>
        </p:txBody>
      </p:sp>
      <p:sp>
        <p:nvSpPr>
          <p:cNvPr id="1446" name="Google Shape;1446;p16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47" name="Google Shape;1447;p16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6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 ⇒ Testem</a:t>
            </a:r>
            <a:endParaRPr/>
          </a:p>
        </p:txBody>
      </p:sp>
      <p:sp>
        <p:nvSpPr>
          <p:cNvPr id="1454" name="Google Shape;1454;p16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55" name="Google Shape;1455;p16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56" name="Google Shape;1456;p169"/>
          <p:cNvSpPr txBox="1"/>
          <p:nvPr/>
        </p:nvSpPr>
        <p:spPr>
          <a:xfrm>
            <a:off x="0" y="1587150"/>
            <a:ext cx="9144000" cy="3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Nome:&lt;input name="nome" type="text" value="nome"&gt;&lt;br&gt;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Senha:&lt;input name="senha" type="password" value="senha"&gt;&lt;br&gt;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type="submit"&gt;&lt;input type="reset"&gt;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7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Além do input</a:t>
            </a:r>
            <a:endParaRPr/>
          </a:p>
        </p:txBody>
      </p:sp>
      <p:sp>
        <p:nvSpPr>
          <p:cNvPr id="1463" name="Google Shape;1463;p17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64" name="Google Shape;1464;p17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7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Select</a:t>
            </a:r>
            <a:endParaRPr/>
          </a:p>
        </p:txBody>
      </p:sp>
      <p:sp>
        <p:nvSpPr>
          <p:cNvPr id="1471" name="Google Shape;1471;p171"/>
          <p:cNvSpPr txBox="1"/>
          <p:nvPr>
            <p:ph idx="1" type="body"/>
          </p:nvPr>
        </p:nvSpPr>
        <p:spPr>
          <a:xfrm>
            <a:off x="628650" y="1653038"/>
            <a:ext cx="2631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Select e seus options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que é o select?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são os options?</a:t>
            </a:r>
            <a:endParaRPr/>
          </a:p>
        </p:txBody>
      </p:sp>
      <p:sp>
        <p:nvSpPr>
          <p:cNvPr id="1472" name="Google Shape;1472;p17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3" name="Google Shape;1473;p17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74" name="Google Shape;1474;p171"/>
          <p:cNvSpPr txBox="1"/>
          <p:nvPr/>
        </p:nvSpPr>
        <p:spPr>
          <a:xfrm>
            <a:off x="3260063" y="0"/>
            <a:ext cx="58842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Nome:&lt;input name="nome" type="text"&gt;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&lt;br&gt;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Estado: &lt;select name="estado"&gt; 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value="rs"&gt; RS &lt;/option&gt;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value="sc"&gt; SC &lt;/option&gt;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value="pr"&gt; PR &lt;/option&gt;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value="sp"&gt; SP &lt;/option&gt;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&lt;/select&gt;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7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Select</a:t>
            </a:r>
            <a:endParaRPr/>
          </a:p>
        </p:txBody>
      </p:sp>
      <p:sp>
        <p:nvSpPr>
          <p:cNvPr id="1481" name="Google Shape;1481;p17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select ⇒ selecionar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abre e fecha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selecionar entre as opções fornecidas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por padrão seleciona a primeira opção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options ⇒ opções</a:t>
            </a:r>
            <a:endParaRPr b="1"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tem os valores fornecidos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parecido com o radio</a:t>
            </a:r>
            <a:endParaRPr/>
          </a:p>
        </p:txBody>
      </p:sp>
      <p:sp>
        <p:nvSpPr>
          <p:cNvPr id="1482" name="Google Shape;1482;p17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83" name="Google Shape;1483;p17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7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Select</a:t>
            </a:r>
            <a:endParaRPr/>
          </a:p>
        </p:txBody>
      </p:sp>
      <p:sp>
        <p:nvSpPr>
          <p:cNvPr id="1490" name="Google Shape;1490;p173"/>
          <p:cNvSpPr txBox="1"/>
          <p:nvPr>
            <p:ph idx="1" type="body"/>
          </p:nvPr>
        </p:nvSpPr>
        <p:spPr>
          <a:xfrm>
            <a:off x="628650" y="1653038"/>
            <a:ext cx="2631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1491" name="Google Shape;1491;p17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92" name="Google Shape;1492;p17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93" name="Google Shape;1493;p173"/>
          <p:cNvSpPr txBox="1"/>
          <p:nvPr/>
        </p:nvSpPr>
        <p:spPr>
          <a:xfrm>
            <a:off x="3146606" y="0"/>
            <a:ext cx="5997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Nome:&lt;input name="nome" type="text"&gt;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&lt;br&gt;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Estado: &lt;select name="estado"&gt;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value="rs"&gt; RS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value="sc"&gt; SC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value="pr"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selected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PR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value="sp"&gt; SP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&lt;/select&gt;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7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Atributo select</a:t>
            </a:r>
            <a:endParaRPr/>
          </a:p>
        </p:txBody>
      </p:sp>
      <p:sp>
        <p:nvSpPr>
          <p:cNvPr id="1500" name="Google Shape;1500;p17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selected ⇒ selecionado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alterado o option que está marcado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usado para colocar um como padrão que não é o primeiro</a:t>
            </a:r>
            <a:endParaRPr/>
          </a:p>
        </p:txBody>
      </p:sp>
      <p:sp>
        <p:nvSpPr>
          <p:cNvPr id="1501" name="Google Shape;1501;p17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02" name="Google Shape;1502;p17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7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Size</a:t>
            </a:r>
            <a:endParaRPr/>
          </a:p>
        </p:txBody>
      </p:sp>
      <p:sp>
        <p:nvSpPr>
          <p:cNvPr id="1509" name="Google Shape;1509;p175"/>
          <p:cNvSpPr txBox="1"/>
          <p:nvPr>
            <p:ph idx="1" type="body"/>
          </p:nvPr>
        </p:nvSpPr>
        <p:spPr>
          <a:xfrm>
            <a:off x="628650" y="1653038"/>
            <a:ext cx="2631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1510" name="Google Shape;1510;p17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1" name="Google Shape;1511;p17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512" name="Google Shape;1512;p175"/>
          <p:cNvSpPr txBox="1"/>
          <p:nvPr/>
        </p:nvSpPr>
        <p:spPr>
          <a:xfrm>
            <a:off x="3146606" y="0"/>
            <a:ext cx="5997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Nome:&lt;input name="nome" type="text"&gt;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&lt;br&gt;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Estado: &lt;select name="estado"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size="2"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value="rs"&gt; RS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value="sc"&gt; SC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value="pr" selected&gt; PR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value="sp"&gt; SP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&lt;/select&gt;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7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atributo size</a:t>
            </a:r>
            <a:endParaRPr/>
          </a:p>
        </p:txBody>
      </p:sp>
      <p:sp>
        <p:nvSpPr>
          <p:cNvPr id="1519" name="Google Shape;1519;p17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size ⇒ tamanho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altera a quantidade de options visualizadas por vez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size="2" mostra duas opções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fica mais fácil de visualizar as opções</a:t>
            </a:r>
            <a:endParaRPr/>
          </a:p>
        </p:txBody>
      </p:sp>
      <p:sp>
        <p:nvSpPr>
          <p:cNvPr id="1520" name="Google Shape;1520;p17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21" name="Google Shape;1521;p17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7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multiple</a:t>
            </a:r>
            <a:endParaRPr/>
          </a:p>
        </p:txBody>
      </p:sp>
      <p:sp>
        <p:nvSpPr>
          <p:cNvPr id="1528" name="Google Shape;1528;p177"/>
          <p:cNvSpPr txBox="1"/>
          <p:nvPr>
            <p:ph idx="1" type="body"/>
          </p:nvPr>
        </p:nvSpPr>
        <p:spPr>
          <a:xfrm>
            <a:off x="628650" y="1653038"/>
            <a:ext cx="2631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1529" name="Google Shape;1529;p17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30" name="Google Shape;1530;p17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531" name="Google Shape;1531;p177"/>
          <p:cNvSpPr txBox="1"/>
          <p:nvPr/>
        </p:nvSpPr>
        <p:spPr>
          <a:xfrm>
            <a:off x="3146606" y="0"/>
            <a:ext cx="5997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Nome:&lt;input name="nome" type="text"&gt;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&lt;br&gt;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Estado: &lt;select name="estado"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size="4" multiple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value="rs"&gt; RS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value="sc"&gt; SC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value="pr" selected&gt; PR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value="sp"&gt; SP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&lt;/select&gt;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7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atributo multiple</a:t>
            </a:r>
            <a:endParaRPr/>
          </a:p>
        </p:txBody>
      </p:sp>
      <p:sp>
        <p:nvSpPr>
          <p:cNvPr id="1538" name="Google Shape;1538;p17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multiple ⇒ múltiplo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deixa selecionar várias opções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manda várias vezes o select</a:t>
            </a:r>
            <a:endParaRPr/>
          </a:p>
        </p:txBody>
      </p:sp>
      <p:sp>
        <p:nvSpPr>
          <p:cNvPr id="1539" name="Google Shape;1539;p17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40" name="Google Shape;1540;p17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7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textarea</a:t>
            </a:r>
            <a:endParaRPr/>
          </a:p>
        </p:txBody>
      </p:sp>
      <p:sp>
        <p:nvSpPr>
          <p:cNvPr id="1547" name="Google Shape;1547;p179"/>
          <p:cNvSpPr txBox="1"/>
          <p:nvPr>
            <p:ph idx="1" type="body"/>
          </p:nvPr>
        </p:nvSpPr>
        <p:spPr>
          <a:xfrm>
            <a:off x="628650" y="1653038"/>
            <a:ext cx="2631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1548" name="Google Shape;1548;p17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49" name="Google Shape;1549;p17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550" name="Google Shape;1550;p179"/>
          <p:cNvSpPr txBox="1"/>
          <p:nvPr/>
        </p:nvSpPr>
        <p:spPr>
          <a:xfrm>
            <a:off x="3146606" y="0"/>
            <a:ext cx="5997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Nome:&lt;input name="nome" type="text"&gt;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&lt;br&gt;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Estado: &lt;select name="estado" size="4" multiple&gt;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value="rs"&gt; RS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value="sc"&gt; SC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value="pr" selected&gt; PR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value="sp"&gt; SP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&lt;/select&gt;&lt;br&gt;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&lt;textarea name="mensagem"&gt;Busquem conhecimento&lt;/textarea&gt; &lt;br&gt;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8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marcador textarea</a:t>
            </a:r>
            <a:endParaRPr/>
          </a:p>
        </p:txBody>
      </p:sp>
      <p:sp>
        <p:nvSpPr>
          <p:cNvPr id="1557" name="Google Shape;1557;p18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textarea ⇒ área de texto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mostra um campo maior do que o input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para enviar texto mais longo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para um texto maior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o campo padrão fica um pouco pequeno</a:t>
            </a:r>
            <a:endParaRPr/>
          </a:p>
        </p:txBody>
      </p:sp>
      <p:sp>
        <p:nvSpPr>
          <p:cNvPr id="1558" name="Google Shape;1558;p18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9" name="Google Shape;1559;p18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8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textarea</a:t>
            </a:r>
            <a:endParaRPr/>
          </a:p>
        </p:txBody>
      </p:sp>
      <p:sp>
        <p:nvSpPr>
          <p:cNvPr id="1566" name="Google Shape;1566;p181"/>
          <p:cNvSpPr txBox="1"/>
          <p:nvPr>
            <p:ph idx="1" type="body"/>
          </p:nvPr>
        </p:nvSpPr>
        <p:spPr>
          <a:xfrm>
            <a:off x="628650" y="1653038"/>
            <a:ext cx="2631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 que aconteceu?</a:t>
            </a:r>
            <a:endParaRPr/>
          </a:p>
        </p:txBody>
      </p:sp>
      <p:sp>
        <p:nvSpPr>
          <p:cNvPr id="1567" name="Google Shape;1567;p18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8" name="Google Shape;1568;p18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569" name="Google Shape;1569;p181"/>
          <p:cNvSpPr txBox="1"/>
          <p:nvPr/>
        </p:nvSpPr>
        <p:spPr>
          <a:xfrm>
            <a:off x="3146606" y="0"/>
            <a:ext cx="59976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 action="teste.html" target="_blank"&gt;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Nome:&lt;input name="nome" type="text"&gt;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&lt;br&gt;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Estado: &lt;select name="estado" size="4" multiple&gt;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value="rs"&gt; RS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value="sc"&gt; SC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value="pr" selected&gt; PR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&lt;option value="sp"&gt; SP &lt;/option&gt;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&lt;/select&gt;&lt;br&gt;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name="mensagem"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rows="50" cols="20"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&gt;Busquem conhecimento&lt;/textarea&gt; &lt;br&gt;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8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atributos rows e cols</a:t>
            </a:r>
            <a:endParaRPr/>
          </a:p>
        </p:txBody>
      </p:sp>
      <p:sp>
        <p:nvSpPr>
          <p:cNvPr id="1576" name="Google Shape;1576;p18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rows ⇒ linhas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define o número de linhas da caixa de texto que serão mostradas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cols ⇒ colunas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define o número de linhas da caixa de texto que serão mostradas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Aumentando esses números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aumenta a caixa de texto...</a:t>
            </a:r>
            <a:endParaRPr/>
          </a:p>
        </p:txBody>
      </p:sp>
      <p:sp>
        <p:nvSpPr>
          <p:cNvPr id="1577" name="Google Shape;1577;p18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78" name="Google Shape;1578;p18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183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85" name="Google Shape;1585;p183"/>
          <p:cNvSpPr txBox="1"/>
          <p:nvPr>
            <p:ph type="title"/>
          </p:nvPr>
        </p:nvSpPr>
        <p:spPr>
          <a:xfrm>
            <a:off x="471488" y="162520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HTML5</a:t>
            </a:r>
            <a:endParaRPr/>
          </a:p>
        </p:txBody>
      </p:sp>
      <p:sp>
        <p:nvSpPr>
          <p:cNvPr id="1586" name="Google Shape;1586;p183"/>
          <p:cNvSpPr txBox="1"/>
          <p:nvPr>
            <p:ph idx="1" type="subTitle"/>
          </p:nvPr>
        </p:nvSpPr>
        <p:spPr>
          <a:xfrm>
            <a:off x="471488" y="908227"/>
            <a:ext cx="5915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587" name="Google Shape;1587;p183"/>
          <p:cNvSpPr txBox="1"/>
          <p:nvPr>
            <p:ph idx="2" type="body"/>
          </p:nvPr>
        </p:nvSpPr>
        <p:spPr>
          <a:xfrm>
            <a:off x="1257300" y="2470050"/>
            <a:ext cx="38862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color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date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datetime-local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email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month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number</a:t>
            </a:r>
            <a:endParaRPr/>
          </a:p>
        </p:txBody>
      </p:sp>
      <p:sp>
        <p:nvSpPr>
          <p:cNvPr id="1588" name="Google Shape;1588;p183"/>
          <p:cNvSpPr txBox="1"/>
          <p:nvPr>
            <p:ph idx="3" type="body"/>
          </p:nvPr>
        </p:nvSpPr>
        <p:spPr>
          <a:xfrm>
            <a:off x="5323069" y="2470050"/>
            <a:ext cx="38862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range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search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tel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time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url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week</a:t>
            </a:r>
            <a:endParaRPr/>
          </a:p>
        </p:txBody>
      </p:sp>
      <p:sp>
        <p:nvSpPr>
          <p:cNvPr id="1589" name="Google Shape;1589;p183"/>
          <p:cNvSpPr txBox="1"/>
          <p:nvPr>
            <p:ph idx="4294967295" type="body"/>
          </p:nvPr>
        </p:nvSpPr>
        <p:spPr>
          <a:xfrm>
            <a:off x="628650" y="165303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Até aqui vimos os inputs das versões mais antigas do html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HTML5 veio com vários inputs novos nativos no navegador</a:t>
            </a:r>
            <a:endParaRPr b="1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8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HTML5</a:t>
            </a:r>
            <a:endParaRPr/>
          </a:p>
        </p:txBody>
      </p:sp>
      <p:sp>
        <p:nvSpPr>
          <p:cNvPr id="1596" name="Google Shape;1596;p18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Vários desses inputs eram implementados usando JS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 esses inputs "novos”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tem mais a necessidade da biblioteca/função JS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 funcionalidade é nativa do navegador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facilita bastante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padronização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carregamento mais rápido</a:t>
            </a:r>
            <a:endParaRPr/>
          </a:p>
        </p:txBody>
      </p:sp>
      <p:sp>
        <p:nvSpPr>
          <p:cNvPr id="1597" name="Google Shape;1597;p18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98" name="Google Shape;1598;p18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185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5" name="Google Shape;1605;p185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606" name="Google Shape;1606;p18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7" name="Google Shape;1607;p185"/>
          <p:cNvSpPr txBox="1"/>
          <p:nvPr/>
        </p:nvSpPr>
        <p:spPr>
          <a:xfrm>
            <a:off x="225" y="0"/>
            <a:ext cx="91440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 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Nome:&lt;input name="login" type="text"&gt;&lt;br&gt;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E-mail: &lt;input type="email" name="email"&gt; 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Cor favorita: &lt;input type="color" name="corFavorita"&gt; 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Aniversário: &lt;input type="date" name="aniversario"&gt; 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Foto de perfil: &lt;input type="file" name="foto"&gt; 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Filhos: &lt;input type="number" name="filhos"&gt; 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Horário para contato: &lt;input type="time" name="horario"&gt; 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Página pessoal: &lt;input type="url" name="sitePessoal"&gt;&lt;br&gt;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073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8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HTML5</a:t>
            </a:r>
            <a:endParaRPr/>
          </a:p>
        </p:txBody>
      </p:sp>
      <p:sp>
        <p:nvSpPr>
          <p:cNvPr id="1614" name="Google Shape;1614;p18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email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quase igual ao text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informa o navegador que é um campo de email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ajuda a autocompletar com dados passados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não valida se é um email de fato</a:t>
            </a:r>
            <a:endParaRPr b="1"/>
          </a:p>
        </p:txBody>
      </p:sp>
      <p:sp>
        <p:nvSpPr>
          <p:cNvPr id="1615" name="Google Shape;1615;p18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16" name="Google Shape;1616;p18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8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HTML5</a:t>
            </a:r>
            <a:endParaRPr/>
          </a:p>
        </p:txBody>
      </p:sp>
      <p:sp>
        <p:nvSpPr>
          <p:cNvPr id="1623" name="Google Shape;1623;p18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color  ⇒ cor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abre uma paleta de cores para o usuário escolher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valor do campo no submit é um hexadecimal da cor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padrão de cor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date ⇒ data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abre um calendário padrão para escolha da data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evita que o usuário erre a data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valida se é uma data correta</a:t>
            </a:r>
            <a:endParaRPr/>
          </a:p>
        </p:txBody>
      </p:sp>
      <p:sp>
        <p:nvSpPr>
          <p:cNvPr id="1624" name="Google Shape;1624;p18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25" name="Google Shape;1625;p18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8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HTML5</a:t>
            </a:r>
            <a:endParaRPr/>
          </a:p>
        </p:txBody>
      </p:sp>
      <p:sp>
        <p:nvSpPr>
          <p:cNvPr id="1632" name="Google Shape;1632;p18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file  ⇒ arquivo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abre a tela para escolher um arquivo para enviar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envia o arquivo ao servidor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number ⇒ número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obriga digitar somente números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válida e tem como interagir através dos botões fornecidos</a:t>
            </a:r>
            <a:endParaRPr/>
          </a:p>
        </p:txBody>
      </p:sp>
      <p:sp>
        <p:nvSpPr>
          <p:cNvPr id="1633" name="Google Shape;1633;p18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4" name="Google Shape;1634;p18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8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HTML5</a:t>
            </a:r>
            <a:endParaRPr/>
          </a:p>
        </p:txBody>
      </p:sp>
      <p:sp>
        <p:nvSpPr>
          <p:cNvPr id="1641" name="Google Shape;1641;p18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time  ⇒ hora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mesma coisa que o number só que para horas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valida se a hora está correta (evita erros)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url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igual ao campo de texto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verifica se o campo contém uma página válida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se não tem não manda para o servidor</a:t>
            </a:r>
            <a:endParaRPr/>
          </a:p>
        </p:txBody>
      </p:sp>
      <p:sp>
        <p:nvSpPr>
          <p:cNvPr id="1642" name="Google Shape;1642;p18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3" name="Google Shape;1643;p18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9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atributos dos inputs HTML5</a:t>
            </a:r>
            <a:endParaRPr/>
          </a:p>
        </p:txBody>
      </p:sp>
      <p:sp>
        <p:nvSpPr>
          <p:cNvPr id="1650" name="Google Shape;1650;p19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51" name="Google Shape;1651;p19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652" name="Google Shape;1652;p190"/>
          <p:cNvSpPr txBox="1"/>
          <p:nvPr/>
        </p:nvSpPr>
        <p:spPr>
          <a:xfrm>
            <a:off x="0" y="1587150"/>
            <a:ext cx="9094200" cy="3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Aniversário: &lt;input type="date" name="aniversario"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max="2018-10-15" min="1940-01-01"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Filhos: &lt;input type="number" name="filhos"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min="0" max="10" step="1" value="0"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&lt;br&gt;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9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</a:t>
            </a:r>
            <a:br>
              <a:rPr lang="pt-BR"/>
            </a:br>
            <a:r>
              <a:rPr lang="pt-BR"/>
              <a:t>HTML5</a:t>
            </a:r>
            <a:endParaRPr/>
          </a:p>
        </p:txBody>
      </p:sp>
      <p:sp>
        <p:nvSpPr>
          <p:cNvPr id="1659" name="Google Shape;1659;p191"/>
          <p:cNvSpPr txBox="1"/>
          <p:nvPr>
            <p:ph idx="1" type="body"/>
          </p:nvPr>
        </p:nvSpPr>
        <p:spPr>
          <a:xfrm>
            <a:off x="628650" y="1653038"/>
            <a:ext cx="2275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Cliquem no submeter/enviar sem preencher nenhum campo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Tá certo isso de enviar tudo em branco?</a:t>
            </a:r>
            <a:endParaRPr/>
          </a:p>
        </p:txBody>
      </p:sp>
      <p:sp>
        <p:nvSpPr>
          <p:cNvPr id="1660" name="Google Shape;1660;p19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61" name="Google Shape;1661;p19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662" name="Google Shape;1662;p191"/>
          <p:cNvSpPr txBox="1"/>
          <p:nvPr/>
        </p:nvSpPr>
        <p:spPr>
          <a:xfrm>
            <a:off x="2904525" y="0"/>
            <a:ext cx="6239700" cy="49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 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Nome:&lt;input name="nome" type="text"&gt;&lt;br&gt;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E-mail: &lt;input type="email" name="email"&gt; 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Cor favorita: &lt;input type="color" name="corFavorita"&gt; 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Aniversário: &lt;input type="date" name="aniversario"&gt; 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Foto de perfil: &lt;input type="file" name="foto"&gt; 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Filhos: &lt;input type="number" name="filhos"&gt; 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Horário para contato:&lt;input type="time"name="horario"&gt; 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Página pessoal: &lt;input type="url" name="sitePessoal"&gt; &lt;br&gt;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type="submit"&gt;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9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inputs HTML5</a:t>
            </a:r>
            <a:endParaRPr/>
          </a:p>
        </p:txBody>
      </p:sp>
      <p:sp>
        <p:nvSpPr>
          <p:cNvPr id="1669" name="Google Shape;1669;p19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Cliquem no submeter/enviar sem preencher nenhum campo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Tá certo isso?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atributo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requerido ⇒ obrigatório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coloquem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required </a:t>
            </a:r>
            <a:r>
              <a:rPr lang="pt-BR"/>
              <a:t>dentro do marcador nome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tentem submeter com ele vazio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e aí!?</a:t>
            </a:r>
            <a:endParaRPr/>
          </a:p>
        </p:txBody>
      </p:sp>
      <p:sp>
        <p:nvSpPr>
          <p:cNvPr id="1670" name="Google Shape;1670;p19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71" name="Google Shape;1671;p19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93"/>
          <p:cNvSpPr txBox="1"/>
          <p:nvPr>
            <p:ph idx="1" type="subTitle"/>
          </p:nvPr>
        </p:nvSpPr>
        <p:spPr>
          <a:xfrm>
            <a:off x="628650" y="234451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678" name="Google Shape;1678;p19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79" name="Google Shape;1679;p193"/>
          <p:cNvSpPr txBox="1"/>
          <p:nvPr>
            <p:ph idx="2" type="subTitle"/>
          </p:nvPr>
        </p:nvSpPr>
        <p:spPr>
          <a:xfrm>
            <a:off x="1827281" y="36454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